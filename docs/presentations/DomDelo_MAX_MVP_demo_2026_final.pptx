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Редакционная версия для просмотра MVP. Содержание основано на предоставленной презентации. Публичные ссылки и доступность стенда не проверялись.</a:t>
            </a:r>
          </a:p>
          <a:p>
            <a:r>
              <a:t>Исходный файл: DomDelo_MAX_umnyi_gorod_2026.pptx.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779EF61-9DE8-46C2-A273-1C3CA6A014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25C0FD9-C8F6-4CFA-ADEB-9F4CC2C74F0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471AFF"/>
                </a:solidFill>
                <a:latin typeface="Arial"/>
                <a:ea typeface="Arial"/>
                <a:cs typeface="Arial"/>
              </a:rPr>
              <a:t>ТЕХНИЧЕСКАЯ ИНФОРМАЦИЯ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0391ACC-4599-4CB4-AE9B-4CC3078A1F7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53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Деморежим для просмотра MVP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6FCD723-2D30-476F-9554-5F813004E7D1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10953750" cy="19050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D8858B0-4A16-4468-BB37-ACED62F5A1DB}"/>
              </a:ext>
            </a:extLst>
          </p:cNvPr>
          <p:cNvSpPr>
            <a:spLocks noGrp="1"/>
          </p:cNvSpPr>
          <p:nvPr/>
        </p:nvSpPr>
        <p:spPr>
          <a:xfrm>
            <a:off x="552450" y="1704975"/>
            <a:ext cx="47148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Доступ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7D83FA9-AC0F-4448-8AA7-7894333A2440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447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Бот и Mini App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57D2C31-D17A-4402-9928-6BB53DC9E249}"/>
              </a:ext>
            </a:extLst>
          </p:cNvPr>
          <p:cNvSpPr>
            <a:spLocks noGrp="1"/>
          </p:cNvSpPr>
          <p:nvPr/>
        </p:nvSpPr>
        <p:spPr>
          <a:xfrm>
            <a:off x="552450" y="2400300"/>
            <a:ext cx="4857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471AFF"/>
                </a:solidFill>
                <a:latin typeface="Arial"/>
                <a:ea typeface="Arial"/>
                <a:cs typeface="Arial"/>
              </a:rPr>
              <a:t>https://max.ru/t524_hakaton_max_bot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081BE2F-1A80-41ED-BAC0-CBFF2F9BD97C}"/>
              </a:ext>
            </a:extLst>
          </p:cNvPr>
          <p:cNvSpPr>
            <a:spLocks noGrp="1"/>
          </p:cNvSpPr>
          <p:nvPr/>
        </p:nvSpPr>
        <p:spPr>
          <a:xfrm>
            <a:off x="552450" y="2914650"/>
            <a:ext cx="4476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lang="ru-RU" sz="1200" b="1" dirty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Адрес </a:t>
            </a:r>
            <a:r>
              <a:rPr lang="en-US" sz="1200" b="1" dirty="0">
                <a:solidFill>
                  <a:srgbClr val="5B536D"/>
                </a:solidFill>
                <a:latin typeface="Arial"/>
                <a:ea typeface="Arial"/>
                <a:cs typeface="Arial"/>
              </a:rPr>
              <a:t>API</a:t>
            </a:r>
            <a:endParaRPr sz="1200" b="1" dirty="0">
              <a:solidFill>
                <a:srgbClr val="5B536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07D5347-7607-4066-9007-54D863910D79}"/>
              </a:ext>
            </a:extLst>
          </p:cNvPr>
          <p:cNvSpPr>
            <a:spLocks noGrp="1"/>
          </p:cNvSpPr>
          <p:nvPr/>
        </p:nvSpPr>
        <p:spPr>
          <a:xfrm>
            <a:off x="552450" y="3162300"/>
            <a:ext cx="4857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471AFF"/>
                </a:solidFill>
                <a:latin typeface="Arial"/>
                <a:ea typeface="Arial"/>
                <a:cs typeface="Arial"/>
              </a:rPr>
              <a:t>https://domdelo-max.onrender.com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16E015B-7CAD-4C69-B200-4E3EA8A232DF}"/>
              </a:ext>
            </a:extLst>
          </p:cNvPr>
          <p:cNvSpPr>
            <a:spLocks noGrp="1"/>
          </p:cNvSpPr>
          <p:nvPr/>
        </p:nvSpPr>
        <p:spPr>
          <a:xfrm>
            <a:off x="552450" y="3714750"/>
            <a:ext cx="4857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Репозиторий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EBF4E7-7F0E-42CB-B42C-F68113A9E839}"/>
              </a:ext>
            </a:extLst>
          </p:cNvPr>
          <p:cNvSpPr>
            <a:spLocks noGrp="1"/>
          </p:cNvSpPr>
          <p:nvPr/>
        </p:nvSpPr>
        <p:spPr>
          <a:xfrm>
            <a:off x="552450" y="3971925"/>
            <a:ext cx="4857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https://github.com/Larenak/DomDeloBot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3FAB8A6-C540-443B-98CD-3ADF75061E6E}"/>
              </a:ext>
            </a:extLst>
          </p:cNvPr>
          <p:cNvSpPr>
            <a:spLocks noGrp="1"/>
          </p:cNvSpPr>
          <p:nvPr/>
        </p:nvSpPr>
        <p:spPr>
          <a:xfrm>
            <a:off x="552450" y="4333875"/>
            <a:ext cx="5000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050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commit 96063ca69cd0f2e1f8bff029ee2dafeaa833e373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0049ABB-65B3-41F4-9D4C-F2C34AACDB62}"/>
              </a:ext>
            </a:extLst>
          </p:cNvPr>
          <p:cNvSpPr>
            <a:spLocks noGrp="1"/>
          </p:cNvSpPr>
          <p:nvPr/>
        </p:nvSpPr>
        <p:spPr>
          <a:xfrm>
            <a:off x="5619750" y="1704975"/>
            <a:ext cx="6019800" cy="2943225"/>
          </a:xfrm>
          <a:prstGeom prst="roundRect">
            <a:avLst>
              <a:gd name="adj" fmla="val 4420"/>
            </a:avLst>
          </a:prstGeom>
          <a:solidFill>
            <a:srgbClr val="FFFFFF"/>
          </a:solidFill>
          <a:ln w="9525">
            <a:solidFill>
              <a:srgbClr val="DCD4F5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5B3F992-7A37-4591-8D15-88BACE18D02F}"/>
              </a:ext>
            </a:extLst>
          </p:cNvPr>
          <p:cNvSpPr>
            <a:spLocks noGrp="1"/>
          </p:cNvSpPr>
          <p:nvPr/>
        </p:nvSpPr>
        <p:spPr>
          <a:xfrm>
            <a:off x="5857875" y="1962150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Как войти и посмотреть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6089E7E-F979-4F10-8CB2-5A4DBB5280EF}"/>
              </a:ext>
            </a:extLst>
          </p:cNvPr>
          <p:cNvSpPr>
            <a:spLocks noGrp="1"/>
          </p:cNvSpPr>
          <p:nvPr/>
        </p:nvSpPr>
        <p:spPr>
          <a:xfrm>
            <a:off x="5857875" y="2400300"/>
            <a:ext cx="5391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1   /start, «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Демо-режим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», 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затем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425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выберите роль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60E9F38-A8BB-4003-B78D-2DE575D9E760}"/>
              </a:ext>
            </a:extLst>
          </p:cNvPr>
          <p:cNvSpPr>
            <a:spLocks noGrp="1"/>
          </p:cNvSpPr>
          <p:nvPr/>
        </p:nvSpPr>
        <p:spPr>
          <a:xfrm>
            <a:off x="5857875" y="2819400"/>
            <a:ext cx="5391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endParaRPr sz="1425" b="0" dirty="0">
              <a:solidFill>
                <a:srgbClr val="0D001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8BE7663-A1A6-4EC2-967B-027BE9504E82}"/>
              </a:ext>
            </a:extLst>
          </p:cNvPr>
          <p:cNvSpPr>
            <a:spLocks noGrp="1"/>
          </p:cNvSpPr>
          <p:nvPr/>
        </p:nvSpPr>
        <p:spPr>
          <a:xfrm>
            <a:off x="5886450" y="2852737"/>
            <a:ext cx="5391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lang="ru-RU" sz="1425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2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   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Создайте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дело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 и 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соберите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подтверждения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546E4F7-5C14-4EE4-88CA-3E43889F0E09}"/>
              </a:ext>
            </a:extLst>
          </p:cNvPr>
          <p:cNvSpPr>
            <a:spLocks noGrp="1"/>
          </p:cNvSpPr>
          <p:nvPr/>
        </p:nvSpPr>
        <p:spPr>
          <a:xfrm>
            <a:off x="5886450" y="3319462"/>
            <a:ext cx="5391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lang="ru-RU" sz="1425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3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   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Роль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 «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Диспетчер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 УК»: 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назначьте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работу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2617B9D-EC6A-48CA-A8EB-4E9D54EDC0D5}"/>
              </a:ext>
            </a:extLst>
          </p:cNvPr>
          <p:cNvSpPr>
            <a:spLocks noGrp="1"/>
          </p:cNvSpPr>
          <p:nvPr/>
        </p:nvSpPr>
        <p:spPr>
          <a:xfrm>
            <a:off x="5886450" y="3736181"/>
            <a:ext cx="5391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lang="ru-RU" sz="1425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4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   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Роль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 «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Исполнитель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»: 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покажите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результат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6559645-E4E2-4A81-B54D-ED307643793C}"/>
              </a:ext>
            </a:extLst>
          </p:cNvPr>
          <p:cNvSpPr>
            <a:spLocks noGrp="1"/>
          </p:cNvSpPr>
          <p:nvPr/>
        </p:nvSpPr>
        <p:spPr>
          <a:xfrm>
            <a:off x="5886450" y="4171950"/>
            <a:ext cx="5391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4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lang="ru-RU" sz="1425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5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   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Роль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 «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Житель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»: 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примите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или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оспорьте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итог</a:t>
            </a:r>
            <a:r>
              <a:rPr sz="1425" b="0" dirty="0">
                <a:solidFill>
                  <a:srgbClr val="0D001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4D29744-155B-43E1-89F8-8EE798F75E49}"/>
              </a:ext>
            </a:extLst>
          </p:cNvPr>
          <p:cNvSpPr>
            <a:spLocks noGrp="1"/>
          </p:cNvSpPr>
          <p:nvPr/>
        </p:nvSpPr>
        <p:spPr>
          <a:xfrm>
            <a:off x="552450" y="538162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Назначение деморежима: просмотр возможностей MVP на тестовых данных. Демо-роли не дают полномочий в настоящем доме.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DDB2CE1-367B-40A6-8170-A3084E3178C6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275" b="0" dirty="0" err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Демо</a:t>
            </a:r>
            <a:r>
              <a:rPr sz="1275" b="0" dirty="0">
                <a:solidFill>
                  <a:srgbClr val="5B536D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без</a:t>
            </a:r>
            <a:r>
              <a:rPr sz="1275" b="0" dirty="0">
                <a:solidFill>
                  <a:srgbClr val="5B536D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пароля</a:t>
            </a:r>
            <a:r>
              <a:rPr sz="1275" b="0" dirty="0">
                <a:solidFill>
                  <a:srgbClr val="5B536D"/>
                </a:solidFill>
                <a:latin typeface="Arial"/>
                <a:ea typeface="Arial"/>
                <a:cs typeface="Arial"/>
              </a:rPr>
              <a:t>. </a:t>
            </a:r>
            <a:r>
              <a:rPr sz="1275" b="0" dirty="0" err="1">
                <a:solidFill>
                  <a:srgbClr val="5B536D"/>
                </a:solidFill>
                <a:latin typeface="Arial"/>
                <a:ea typeface="Arial"/>
                <a:cs typeface="Arial"/>
              </a:rPr>
              <a:t>OpenAPI</a:t>
            </a:r>
            <a:r>
              <a:rPr sz="1275" b="0" dirty="0">
                <a:solidFill>
                  <a:srgbClr val="5B536D"/>
                </a:solidFill>
                <a:latin typeface="Arial"/>
                <a:ea typeface="Arial"/>
                <a:cs typeface="Arial"/>
              </a:rPr>
              <a:t>: /docs. </a:t>
            </a:r>
            <a:r>
              <a:rPr sz="1275" b="0" dirty="0" err="1">
                <a:solidFill>
                  <a:srgbClr val="5B536D"/>
                </a:solidFill>
                <a:latin typeface="Arial"/>
                <a:ea typeface="Arial"/>
                <a:cs typeface="Arial"/>
              </a:rPr>
              <a:t>Секреты</a:t>
            </a:r>
            <a:r>
              <a:rPr sz="1275" b="0" dirty="0">
                <a:solidFill>
                  <a:srgbClr val="5B536D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для</a:t>
            </a:r>
            <a:r>
              <a:rPr sz="1275" b="0" dirty="0">
                <a:solidFill>
                  <a:srgbClr val="5B536D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запуска</a:t>
            </a:r>
            <a:r>
              <a:rPr sz="1275" b="0" dirty="0">
                <a:solidFill>
                  <a:srgbClr val="5B536D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передаются</a:t>
            </a:r>
            <a:r>
              <a:rPr sz="1275" b="0" dirty="0">
                <a:solidFill>
                  <a:srgbClr val="5B536D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организаторам</a:t>
            </a:r>
            <a:r>
              <a:rPr sz="1275" b="0" dirty="0">
                <a:solidFill>
                  <a:srgbClr val="5B536D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отдельно</a:t>
            </a:r>
            <a:r>
              <a:rPr sz="1275" b="0" dirty="0">
                <a:solidFill>
                  <a:srgbClr val="5B536D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защищённым</a:t>
            </a:r>
            <a:r>
              <a:rPr sz="1275" b="0" dirty="0">
                <a:solidFill>
                  <a:srgbClr val="5B536D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5B536D"/>
                </a:solidFill>
                <a:latin typeface="Arial"/>
                <a:ea typeface="Arial"/>
                <a:cs typeface="Arial"/>
              </a:rPr>
              <a:t>способом</a:t>
            </a:r>
            <a:r>
              <a:rPr sz="1275" b="0" dirty="0">
                <a:solidFill>
                  <a:srgbClr val="5B536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537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71AFF"/>
            </a:gs>
            <a:gs pos="100000">
              <a:srgbClr val="9500FF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BFE0E62-7608-49B2-9D58-EFB4A456CE7C}"/>
              </a:ext>
            </a:extLst>
          </p:cNvPr>
          <p:cNvSpPr>
            <a:spLocks noGrp="1"/>
          </p:cNvSpPr>
          <p:nvPr/>
        </p:nvSpPr>
        <p:spPr>
          <a:xfrm>
            <a:off x="638175" y="647700"/>
            <a:ext cx="1476375" cy="371475"/>
          </a:xfrm>
          <a:prstGeom prst="roundRect">
            <a:avLst>
              <a:gd name="adj" fmla="val 48718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D438794-2F05-4B31-919A-5692D92FE811}"/>
              </a:ext>
            </a:extLst>
          </p:cNvPr>
          <p:cNvSpPr>
            <a:spLocks noGrp="1"/>
          </p:cNvSpPr>
          <p:nvPr/>
        </p:nvSpPr>
        <p:spPr>
          <a:xfrm>
            <a:off x="771525" y="723900"/>
            <a:ext cx="12573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  <a:defRPr sz="11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УМНЫЙ ГОРОД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3B24150-A317-425B-95CF-AED264B92A31}"/>
              </a:ext>
            </a:extLst>
          </p:cNvPr>
          <p:cNvSpPr>
            <a:spLocks noGrp="1"/>
          </p:cNvSpPr>
          <p:nvPr/>
        </p:nvSpPr>
        <p:spPr>
          <a:xfrm>
            <a:off x="619125" y="1485900"/>
            <a:ext cx="98107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ДомДело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30D07B-ABE1-44C1-992E-F17683DE7D16}"/>
              </a:ext>
            </a:extLst>
          </p:cNvPr>
          <p:cNvSpPr>
            <a:spLocks noGrp="1"/>
          </p:cNvSpPr>
          <p:nvPr/>
        </p:nvSpPr>
        <p:spPr>
          <a:xfrm>
            <a:off x="657225" y="2857500"/>
            <a:ext cx="10191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Помощник по вопросам дома в MAX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0351806-01AC-496B-9E13-2E40061E83AB}"/>
              </a:ext>
            </a:extLst>
          </p:cNvPr>
          <p:cNvSpPr>
            <a:spLocks noGrp="1"/>
          </p:cNvSpPr>
          <p:nvPr/>
        </p:nvSpPr>
        <p:spPr>
          <a:xfrm>
            <a:off x="657225" y="4648200"/>
            <a:ext cx="952500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5003707-ABC0-4ED6-871F-04E7B838891E}"/>
              </a:ext>
            </a:extLst>
          </p:cNvPr>
          <p:cNvSpPr>
            <a:spLocks noGrp="1"/>
          </p:cNvSpPr>
          <p:nvPr/>
        </p:nvSpPr>
        <p:spPr>
          <a:xfrm>
            <a:off x="647700" y="4895850"/>
            <a:ext cx="101917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Деморежим для просмотра MVP</a:t>
            </a:r>
          </a:p>
          <a:p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Тестовые данные и переключаемые роли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B58D868-451E-446C-9F2A-3AF8EDE5E23C}"/>
              </a:ext>
            </a:extLst>
          </p:cNvPr>
          <p:cNvSpPr>
            <a:spLocks noGrp="1"/>
          </p:cNvSpPr>
          <p:nvPr/>
        </p:nvSpPr>
        <p:spPr>
          <a:xfrm>
            <a:off x="657225" y="6096000"/>
            <a:ext cx="106489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Гасанов Гейдар Газанфар оглы · Каменских Александр Владимирович · Габриелян Григорий Артурович</a:t>
            </a:r>
          </a:p>
        </p:txBody>
      </p:sp>
    </p:spTree>
    <p:extLst>
      <p:ext uri="{BB962C8B-B14F-4D97-AF65-F5344CB8AC3E}">
        <p14:creationId xmlns:p14="http://schemas.microsoft.com/office/powerpoint/2010/main" val="1171429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E9A6A28-FAF1-4D15-8BF5-40FC2653B6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6BC15D7-7B02-449D-9CE5-EC31B3C9865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РЕЗЮМЕ ПРОЕКТА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52CA6BA-B360-4A9D-B7C2-B9271C38D5B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156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Приоритетный пользователь и ценность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9E5FC8D-6AD0-4298-9712-9018522934D6}"/>
              </a:ext>
            </a:extLst>
          </p:cNvPr>
          <p:cNvSpPr>
            <a:spLocks noGrp="1"/>
          </p:cNvSpPr>
          <p:nvPr/>
        </p:nvSpPr>
        <p:spPr>
          <a:xfrm>
            <a:off x="628650" y="1533525"/>
            <a:ext cx="108394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связывает жителей и обслуживающую организацию через общую карточку дела.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BAEC6A3-522F-4424-9A76-539F078A1CE8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953750" cy="9525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616E4E-3845-4769-95DB-9F9B18FFAE13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C965FE8-0D21-47C0-9EC5-0FBA2C19E455}"/>
              </a:ext>
            </a:extLst>
          </p:cNvPr>
          <p:cNvSpPr>
            <a:spLocks noGrp="1"/>
          </p:cNvSpPr>
          <p:nvPr/>
        </p:nvSpPr>
        <p:spPr>
          <a:xfrm>
            <a:off x="11001375" y="6343650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88C4DF3-34D0-489B-9D18-848757C6BB3F}"/>
              </a:ext>
            </a:extLst>
          </p:cNvPr>
          <p:cNvSpPr>
            <a:spLocks noGrp="1"/>
          </p:cNvSpPr>
          <p:nvPr/>
        </p:nvSpPr>
        <p:spPr>
          <a:xfrm>
            <a:off x="647700" y="2400300"/>
            <a:ext cx="335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2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66179AC-E822-4F74-97C2-0E16DE5DF76E}"/>
              </a:ext>
            </a:extLst>
          </p:cNvPr>
          <p:cNvSpPr>
            <a:spLocks noGrp="1"/>
          </p:cNvSpPr>
          <p:nvPr/>
        </p:nvSpPr>
        <p:spPr>
          <a:xfrm>
            <a:off x="647700" y="3009900"/>
            <a:ext cx="3238500" cy="19050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059896C-825C-42C5-AE44-56DC03531421}"/>
              </a:ext>
            </a:extLst>
          </p:cNvPr>
          <p:cNvSpPr>
            <a:spLocks noGrp="1"/>
          </p:cNvSpPr>
          <p:nvPr/>
        </p:nvSpPr>
        <p:spPr>
          <a:xfrm>
            <a:off x="647700" y="3181350"/>
            <a:ext cx="32194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Приоритет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853E770-FAE0-4C69-BD13-D1B4232962AD}"/>
              </a:ext>
            </a:extLst>
          </p:cNvPr>
          <p:cNvSpPr>
            <a:spLocks noGrp="1"/>
          </p:cNvSpPr>
          <p:nvPr/>
        </p:nvSpPr>
        <p:spPr>
          <a:xfrm>
            <a:off x="647700" y="3886200"/>
            <a:ext cx="32194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Житель МКД с неисправностью общего имущества: освещения, двери или лифта.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2F25A41-B77B-44D9-B95D-247C3FBF61C9}"/>
              </a:ext>
            </a:extLst>
          </p:cNvPr>
          <p:cNvSpPr>
            <a:spLocks noGrp="1"/>
          </p:cNvSpPr>
          <p:nvPr/>
        </p:nvSpPr>
        <p:spPr>
          <a:xfrm>
            <a:off x="4362450" y="2400300"/>
            <a:ext cx="335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2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86185FD-D756-4DA7-84F4-BFF98493E4B9}"/>
              </a:ext>
            </a:extLst>
          </p:cNvPr>
          <p:cNvSpPr>
            <a:spLocks noGrp="1"/>
          </p:cNvSpPr>
          <p:nvPr/>
        </p:nvSpPr>
        <p:spPr>
          <a:xfrm>
            <a:off x="4362450" y="3009900"/>
            <a:ext cx="3238500" cy="19050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D98BF7A-7085-490D-8CFF-BDFB95FF0410}"/>
              </a:ext>
            </a:extLst>
          </p:cNvPr>
          <p:cNvSpPr>
            <a:spLocks noGrp="1"/>
          </p:cNvSpPr>
          <p:nvPr/>
        </p:nvSpPr>
        <p:spPr>
          <a:xfrm>
            <a:off x="4362450" y="3181350"/>
            <a:ext cx="32194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Рабочие участники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CB9C886-CAA8-4B0D-9846-794BD97996E7}"/>
              </a:ext>
            </a:extLst>
          </p:cNvPr>
          <p:cNvSpPr>
            <a:spLocks noGrp="1"/>
          </p:cNvSpPr>
          <p:nvPr/>
        </p:nvSpPr>
        <p:spPr>
          <a:xfrm>
            <a:off x="4362450" y="3886200"/>
            <a:ext cx="32194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Диспетчер и исполнитель одной УК, которые обслуживают этот дом.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47D354B-0D28-42D1-9491-1B31B8C03EF5}"/>
              </a:ext>
            </a:extLst>
          </p:cNvPr>
          <p:cNvSpPr>
            <a:spLocks noGrp="1"/>
          </p:cNvSpPr>
          <p:nvPr/>
        </p:nvSpPr>
        <p:spPr>
          <a:xfrm>
            <a:off x="8077200" y="2400300"/>
            <a:ext cx="335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2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F99C0FB-918E-43AB-A2BB-32CFBC2C9C92}"/>
              </a:ext>
            </a:extLst>
          </p:cNvPr>
          <p:cNvSpPr>
            <a:spLocks noGrp="1"/>
          </p:cNvSpPr>
          <p:nvPr/>
        </p:nvSpPr>
        <p:spPr>
          <a:xfrm>
            <a:off x="8077200" y="3009900"/>
            <a:ext cx="3238500" cy="19050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BD37CC2-FEC9-4A3B-986E-D82F63793EE0}"/>
              </a:ext>
            </a:extLst>
          </p:cNvPr>
          <p:cNvSpPr>
            <a:spLocks noGrp="1"/>
          </p:cNvSpPr>
          <p:nvPr/>
        </p:nvSpPr>
        <p:spPr>
          <a:xfrm>
            <a:off x="8077200" y="3181350"/>
            <a:ext cx="32194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Выбор сегмента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38268D6-1E04-45D1-A32E-04D90337B025}"/>
              </a:ext>
            </a:extLst>
          </p:cNvPr>
          <p:cNvSpPr>
            <a:spLocks noGrp="1"/>
          </p:cNvSpPr>
          <p:nvPr/>
        </p:nvSpPr>
        <p:spPr>
          <a:xfrm>
            <a:off x="8077200" y="3886200"/>
            <a:ext cx="32194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Одну неисправность замечают несколько соседей. Её удобно решать совместно.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1778BDDE-76E3-4AEE-83A6-49E1CC15F9FF}"/>
              </a:ext>
            </a:extLst>
          </p:cNvPr>
          <p:cNvSpPr>
            <a:spLocks noGrp="1"/>
          </p:cNvSpPr>
          <p:nvPr/>
        </p:nvSpPr>
        <p:spPr>
          <a:xfrm>
            <a:off x="647700" y="5286375"/>
            <a:ext cx="10763250" cy="581025"/>
          </a:xfrm>
          <a:prstGeom prst="roundRect">
            <a:avLst>
              <a:gd name="adj" fmla="val 16393"/>
            </a:avLst>
          </a:prstGeom>
          <a:solidFill>
            <a:srgbClr val="EEE9FF"/>
          </a:solidFill>
          <a:ln w="0">
            <a:noFill/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5019F46-17BC-4D8E-BA53-7A4DDEE8D8CE}"/>
              </a:ext>
            </a:extLst>
          </p:cNvPr>
          <p:cNvSpPr>
            <a:spLocks noGrp="1"/>
          </p:cNvSpPr>
          <p:nvPr/>
        </p:nvSpPr>
        <p:spPr>
          <a:xfrm>
            <a:off x="838200" y="5372100"/>
            <a:ext cx="103822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Гипотеза ценности: общая карточка уменьшает повторные обращения и помогает увидеть ответственность за решение.</a:t>
            </a:r>
          </a:p>
        </p:txBody>
      </p:sp>
    </p:spTree>
    <p:extLst>
      <p:ext uri="{BB962C8B-B14F-4D97-AF65-F5344CB8AC3E}">
        <p14:creationId xmlns:p14="http://schemas.microsoft.com/office/powerpoint/2010/main" val="1994309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D369EA4-CC98-4ADC-A8D6-6E93DB16A1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B276FF0-F625-4099-AEF2-3AC7F955F68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7328FF4-091D-40AF-A219-84C494E3F48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156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Почему обращения теряются в чате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A1A6346-67C5-4006-9464-F9EB72BFD105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953750" cy="9525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FA68C3-A5EB-45E8-AD4C-1CB37A2BF9D8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E24594C-4189-4A51-B815-9DA91DC3ECE1}"/>
              </a:ext>
            </a:extLst>
          </p:cNvPr>
          <p:cNvSpPr>
            <a:spLocks noGrp="1"/>
          </p:cNvSpPr>
          <p:nvPr/>
        </p:nvSpPr>
        <p:spPr>
          <a:xfrm>
            <a:off x="11001375" y="6343650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B1F7C54-2D3C-4E49-B9A1-5BE4420672E9}"/>
              </a:ext>
            </a:extLst>
          </p:cNvPr>
          <p:cNvSpPr>
            <a:spLocks noGrp="1"/>
          </p:cNvSpPr>
          <p:nvPr/>
        </p:nvSpPr>
        <p:spPr>
          <a:xfrm>
            <a:off x="666750" y="1943100"/>
            <a:ext cx="46005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17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Для жителя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467CDA1-C2C1-442D-95BE-A90C678B78AD}"/>
              </a:ext>
            </a:extLst>
          </p:cNvPr>
          <p:cNvSpPr>
            <a:spLocks noGrp="1"/>
          </p:cNvSpPr>
          <p:nvPr/>
        </p:nvSpPr>
        <p:spPr>
          <a:xfrm>
            <a:off x="666750" y="2495550"/>
            <a:ext cx="4572000" cy="1828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17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Сообщение уходит в историю переписки. Непонятно, кто отвечает за проблему и когда ждать решения.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A929CBD-F159-4287-B086-8CB86539AB76}"/>
              </a:ext>
            </a:extLst>
          </p:cNvPr>
          <p:cNvSpPr>
            <a:spLocks noGrp="1"/>
          </p:cNvSpPr>
          <p:nvPr/>
        </p:nvSpPr>
        <p:spPr>
          <a:xfrm>
            <a:off x="5676900" y="1990725"/>
            <a:ext cx="19050" cy="3200400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89EAD05-673B-418C-8679-FD99922611F6}"/>
              </a:ext>
            </a:extLst>
          </p:cNvPr>
          <p:cNvSpPr>
            <a:spLocks noGrp="1"/>
          </p:cNvSpPr>
          <p:nvPr/>
        </p:nvSpPr>
        <p:spPr>
          <a:xfrm>
            <a:off x="6162675" y="1943100"/>
            <a:ext cx="488632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Для управляющей компании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5A12FE7-BC56-460B-8989-0518FE2B1B47}"/>
              </a:ext>
            </a:extLst>
          </p:cNvPr>
          <p:cNvSpPr>
            <a:spLocks noGrp="1"/>
          </p:cNvSpPr>
          <p:nvPr/>
        </p:nvSpPr>
        <p:spPr>
          <a:xfrm>
            <a:off x="6162675" y="2495550"/>
            <a:ext cx="4848225" cy="1828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17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Повторные сообщения дробят одну проблему на несколько обращений. Приоритеты и загрузку трудно оценить.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EDA7F3F1-1A5E-4D0A-B4E7-2B17AE7CE3E4}"/>
              </a:ext>
            </a:extLst>
          </p:cNvPr>
          <p:cNvSpPr>
            <a:spLocks noGrp="1"/>
          </p:cNvSpPr>
          <p:nvPr/>
        </p:nvSpPr>
        <p:spPr>
          <a:xfrm>
            <a:off x="666750" y="5076825"/>
            <a:ext cx="10439400" cy="695325"/>
          </a:xfrm>
          <a:prstGeom prst="roundRect">
            <a:avLst>
              <a:gd name="adj" fmla="val 17808"/>
            </a:avLst>
          </a:prstGeom>
          <a:solidFill>
            <a:srgbClr val="EEE9FF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DAE26B2-2A16-49C7-8FAE-C6C46EA1B65E}"/>
              </a:ext>
            </a:extLst>
          </p:cNvPr>
          <p:cNvSpPr>
            <a:spLocks noGrp="1"/>
          </p:cNvSpPr>
          <p:nvPr/>
        </p:nvSpPr>
        <p:spPr>
          <a:xfrm>
            <a:off x="895350" y="5210175"/>
            <a:ext cx="9982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Основание: бриф «Умный город», с. 16. Частоту и масштаб этих ситуаций предстоит проверить в пилоте.</a:t>
            </a:r>
          </a:p>
        </p:txBody>
      </p:sp>
    </p:spTree>
    <p:extLst>
      <p:ext uri="{BB962C8B-B14F-4D97-AF65-F5344CB8AC3E}">
        <p14:creationId xmlns:p14="http://schemas.microsoft.com/office/powerpoint/2010/main" val="1337907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B7B9860-CA30-4C91-822E-E11E0D5B4F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01DB3E1-EF11-4C51-B248-E966A33F89C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ОСНОВНОЙ СЦЕНАРИЙ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8579719-D0CB-4956-814F-741D487A0E1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156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Сценарий обработки одного дела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DAC6640-615B-4FA9-8CB1-C2FA67658C04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953750" cy="9525"/>
          </a:xfrm>
          <a:prstGeom prst="rect">
            <a:avLst/>
          </a:prstGeom>
          <a:solidFill>
            <a:srgbClr val="6E1AFF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5206B83-2237-4A21-9D6E-E988E529171F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82C8BC2-48B1-43E8-9EAD-67B4FEDDA477}"/>
              </a:ext>
            </a:extLst>
          </p:cNvPr>
          <p:cNvSpPr>
            <a:spLocks noGrp="1"/>
          </p:cNvSpPr>
          <p:nvPr/>
        </p:nvSpPr>
        <p:spPr>
          <a:xfrm>
            <a:off x="11001375" y="6343650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26C9EF7-B88E-4DE8-BF39-6B4B69447853}"/>
              </a:ext>
            </a:extLst>
          </p:cNvPr>
          <p:cNvSpPr>
            <a:spLocks noGrp="1"/>
          </p:cNvSpPr>
          <p:nvPr/>
        </p:nvSpPr>
        <p:spPr>
          <a:xfrm>
            <a:off x="600075" y="2152650"/>
            <a:ext cx="2133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2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1B66A95-47F8-47CA-921F-F852C6BA78D2}"/>
              </a:ext>
            </a:extLst>
          </p:cNvPr>
          <p:cNvSpPr>
            <a:spLocks noGrp="1"/>
          </p:cNvSpPr>
          <p:nvPr/>
        </p:nvSpPr>
        <p:spPr>
          <a:xfrm>
            <a:off x="600075" y="2762250"/>
            <a:ext cx="2019300" cy="19050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DB35EF1-B2C5-4850-8259-018FDDE25CB6}"/>
              </a:ext>
            </a:extLst>
          </p:cNvPr>
          <p:cNvSpPr>
            <a:spLocks noGrp="1"/>
          </p:cNvSpPr>
          <p:nvPr/>
        </p:nvSpPr>
        <p:spPr>
          <a:xfrm>
            <a:off x="600075" y="2933700"/>
            <a:ext cx="2000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Житель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3DA4E23-10B8-455A-BFCB-16FC60E1296D}"/>
              </a:ext>
            </a:extLst>
          </p:cNvPr>
          <p:cNvSpPr>
            <a:spLocks noGrp="1"/>
          </p:cNvSpPr>
          <p:nvPr/>
        </p:nvSpPr>
        <p:spPr>
          <a:xfrm>
            <a:off x="600075" y="3638550"/>
            <a:ext cx="200025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Описывает проблему, выбирает категорию и прикладывает фото.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9E8AD65-C0D9-4BBF-8690-5C23245A95E0}"/>
              </a:ext>
            </a:extLst>
          </p:cNvPr>
          <p:cNvSpPr>
            <a:spLocks noGrp="1"/>
          </p:cNvSpPr>
          <p:nvPr/>
        </p:nvSpPr>
        <p:spPr>
          <a:xfrm>
            <a:off x="2924175" y="2152650"/>
            <a:ext cx="2133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2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F576FC9-3351-4167-96CC-3A02BB191DA2}"/>
              </a:ext>
            </a:extLst>
          </p:cNvPr>
          <p:cNvSpPr>
            <a:spLocks noGrp="1"/>
          </p:cNvSpPr>
          <p:nvPr/>
        </p:nvSpPr>
        <p:spPr>
          <a:xfrm>
            <a:off x="2924175" y="2762250"/>
            <a:ext cx="2019300" cy="19050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6866235-6741-4DD8-86E3-FBA9456CD3D6}"/>
              </a:ext>
            </a:extLst>
          </p:cNvPr>
          <p:cNvSpPr>
            <a:spLocks noGrp="1"/>
          </p:cNvSpPr>
          <p:nvPr/>
        </p:nvSpPr>
        <p:spPr>
          <a:xfrm>
            <a:off x="2924175" y="2933700"/>
            <a:ext cx="2000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Соседи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73326F9-E382-41AE-A9AD-291B433C2428}"/>
              </a:ext>
            </a:extLst>
          </p:cNvPr>
          <p:cNvSpPr>
            <a:spLocks noGrp="1"/>
          </p:cNvSpPr>
          <p:nvPr/>
        </p:nvSpPr>
        <p:spPr>
          <a:xfrm>
            <a:off x="2924175" y="3638550"/>
            <a:ext cx="200025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Подтверждают общее дело. Порог подтверждений открывает очередь УК.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643892E-931B-4FC6-ABD9-4F3B9F27F7BF}"/>
              </a:ext>
            </a:extLst>
          </p:cNvPr>
          <p:cNvSpPr>
            <a:spLocks noGrp="1"/>
          </p:cNvSpPr>
          <p:nvPr/>
        </p:nvSpPr>
        <p:spPr>
          <a:xfrm>
            <a:off x="5248275" y="2152650"/>
            <a:ext cx="2133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2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ABFBF78-9493-4126-8BC1-5D73DCAC1D9E}"/>
              </a:ext>
            </a:extLst>
          </p:cNvPr>
          <p:cNvSpPr>
            <a:spLocks noGrp="1"/>
          </p:cNvSpPr>
          <p:nvPr/>
        </p:nvSpPr>
        <p:spPr>
          <a:xfrm>
            <a:off x="5248275" y="2762250"/>
            <a:ext cx="2019300" cy="19050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5C9087F-648A-4E08-AE4A-6E755847027B}"/>
              </a:ext>
            </a:extLst>
          </p:cNvPr>
          <p:cNvSpPr>
            <a:spLocks noGrp="1"/>
          </p:cNvSpPr>
          <p:nvPr/>
        </p:nvSpPr>
        <p:spPr>
          <a:xfrm>
            <a:off x="5248275" y="2933700"/>
            <a:ext cx="2000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Диспетчер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04D7B88-A9C5-4CAB-A802-43203630C6E5}"/>
              </a:ext>
            </a:extLst>
          </p:cNvPr>
          <p:cNvSpPr>
            <a:spLocks noGrp="1"/>
          </p:cNvSpPr>
          <p:nvPr/>
        </p:nvSpPr>
        <p:spPr>
          <a:xfrm>
            <a:off x="5248275" y="3638550"/>
            <a:ext cx="200025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Назначает исполнителя и плановую дату.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9DBF46A-236D-43EF-981F-F53C6F2EE0FB}"/>
              </a:ext>
            </a:extLst>
          </p:cNvPr>
          <p:cNvSpPr>
            <a:spLocks noGrp="1"/>
          </p:cNvSpPr>
          <p:nvPr/>
        </p:nvSpPr>
        <p:spPr>
          <a:xfrm>
            <a:off x="7572375" y="2152650"/>
            <a:ext cx="2133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2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C287584-BA6C-44C2-8D67-A0C6D0C5915F}"/>
              </a:ext>
            </a:extLst>
          </p:cNvPr>
          <p:cNvSpPr>
            <a:spLocks noGrp="1"/>
          </p:cNvSpPr>
          <p:nvPr/>
        </p:nvSpPr>
        <p:spPr>
          <a:xfrm>
            <a:off x="7572375" y="2762250"/>
            <a:ext cx="2019300" cy="19050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A608040-B8CC-4717-80E6-F8531922F624}"/>
              </a:ext>
            </a:extLst>
          </p:cNvPr>
          <p:cNvSpPr>
            <a:spLocks noGrp="1"/>
          </p:cNvSpPr>
          <p:nvPr/>
        </p:nvSpPr>
        <p:spPr>
          <a:xfrm>
            <a:off x="7572375" y="2933700"/>
            <a:ext cx="2000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Исполнитель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BFE1494-4C1B-4F3F-814F-E06C67E5F041}"/>
              </a:ext>
            </a:extLst>
          </p:cNvPr>
          <p:cNvSpPr>
            <a:spLocks noGrp="1"/>
          </p:cNvSpPr>
          <p:nvPr/>
        </p:nvSpPr>
        <p:spPr>
          <a:xfrm>
            <a:off x="7572375" y="3638550"/>
            <a:ext cx="200025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Отмечает ход работы и добавляет фото результата.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F9E3D53-CDF0-43CA-8741-7629B0381CCF}"/>
              </a:ext>
            </a:extLst>
          </p:cNvPr>
          <p:cNvSpPr>
            <a:spLocks noGrp="1"/>
          </p:cNvSpPr>
          <p:nvPr/>
        </p:nvSpPr>
        <p:spPr>
          <a:xfrm>
            <a:off x="9896475" y="2152650"/>
            <a:ext cx="21336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2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FEB1CEF-8FE0-4C55-94CD-2F590FF1D368}"/>
              </a:ext>
            </a:extLst>
          </p:cNvPr>
          <p:cNvSpPr>
            <a:spLocks noGrp="1"/>
          </p:cNvSpPr>
          <p:nvPr/>
        </p:nvSpPr>
        <p:spPr>
          <a:xfrm>
            <a:off x="9896475" y="2762250"/>
            <a:ext cx="2019300" cy="19050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9D28489-B72A-464D-BDDB-0DD5F7C8000C}"/>
              </a:ext>
            </a:extLst>
          </p:cNvPr>
          <p:cNvSpPr>
            <a:spLocks noGrp="1"/>
          </p:cNvSpPr>
          <p:nvPr/>
        </p:nvSpPr>
        <p:spPr>
          <a:xfrm>
            <a:off x="9896475" y="2933700"/>
            <a:ext cx="2000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Приёмка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5C67284-843A-4E53-A73C-E60DEF3174D9}"/>
              </a:ext>
            </a:extLst>
          </p:cNvPr>
          <p:cNvSpPr>
            <a:spLocks noGrp="1"/>
          </p:cNvSpPr>
          <p:nvPr/>
        </p:nvSpPr>
        <p:spPr>
          <a:xfrm>
            <a:off x="9896475" y="3638550"/>
            <a:ext cx="2000250" cy="1200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Житель подтверждает устранение или оспаривает результат.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FB359FD-F2C9-4F3B-A756-E237242311EC}"/>
              </a:ext>
            </a:extLst>
          </p:cNvPr>
          <p:cNvSpPr>
            <a:spLocks noGrp="1"/>
          </p:cNvSpPr>
          <p:nvPr/>
        </p:nvSpPr>
        <p:spPr>
          <a:xfrm>
            <a:off x="619125" y="53816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В демо используются учебные фото и внутренняя очередь. Оспоренный результат возвращается в работу.</a:t>
            </a:r>
          </a:p>
        </p:txBody>
      </p:sp>
    </p:spTree>
    <p:extLst>
      <p:ext uri="{BB962C8B-B14F-4D97-AF65-F5344CB8AC3E}">
        <p14:creationId xmlns:p14="http://schemas.microsoft.com/office/powerpoint/2010/main" val="1669607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B205DBA-B994-4763-BE0D-64D2A2F64E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33FF469-399B-454F-81AE-C6523F48A85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ИНСТРУМЕНТЫ ЖИТЕЛЯ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6E92B30-923A-4A3C-9A1D-F961E6516086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156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Навигация и личное наблюдение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8F6E8B-BEAD-479A-98E7-9504DE125DA6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953750" cy="9525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62D6F7A-63A9-4BD5-9C85-84812890941E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C3CE21B-AEE4-490A-A152-8FF4852DB4F6}"/>
              </a:ext>
            </a:extLst>
          </p:cNvPr>
          <p:cNvSpPr>
            <a:spLocks noGrp="1"/>
          </p:cNvSpPr>
          <p:nvPr/>
        </p:nvSpPr>
        <p:spPr>
          <a:xfrm>
            <a:off x="11001375" y="6343650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6EECD4E-40F9-4F2F-A41C-4CC2363A033B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5810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4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8F335C0-2D16-4671-BCE7-DAAEE59FD83C}"/>
              </a:ext>
            </a:extLst>
          </p:cNvPr>
          <p:cNvSpPr>
            <a:spLocks noGrp="1"/>
          </p:cNvSpPr>
          <p:nvPr/>
        </p:nvSpPr>
        <p:spPr>
          <a:xfrm>
            <a:off x="1428750" y="213360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Мои дома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AEC5648-70D0-4A56-A255-718E4CEBAC34}"/>
              </a:ext>
            </a:extLst>
          </p:cNvPr>
          <p:cNvSpPr>
            <a:spLocks noGrp="1"/>
          </p:cNvSpPr>
          <p:nvPr/>
        </p:nvSpPr>
        <p:spPr>
          <a:xfrm>
            <a:off x="4819650" y="2114550"/>
            <a:ext cx="63817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Выбор активного дома в профиле, добавление и удаление адресов.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C679274-E399-4DE2-BFAD-6193F2180388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10525125" cy="9525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E7136D0-1F2B-4AA7-998F-B842026B3CD2}"/>
              </a:ext>
            </a:extLst>
          </p:cNvPr>
          <p:cNvSpPr>
            <a:spLocks noGrp="1"/>
          </p:cNvSpPr>
          <p:nvPr/>
        </p:nvSpPr>
        <p:spPr>
          <a:xfrm>
            <a:off x="685800" y="3286125"/>
            <a:ext cx="5810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4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F067149-D7FC-43B4-9491-2FA0EA2F57F2}"/>
              </a:ext>
            </a:extLst>
          </p:cNvPr>
          <p:cNvSpPr>
            <a:spLocks noGrp="1"/>
          </p:cNvSpPr>
          <p:nvPr/>
        </p:nvSpPr>
        <p:spPr>
          <a:xfrm>
            <a:off x="1428750" y="328612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Отслеживание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EA6F365-D097-4512-B54B-20BD5ED773B6}"/>
              </a:ext>
            </a:extLst>
          </p:cNvPr>
          <p:cNvSpPr>
            <a:spLocks noGrp="1"/>
          </p:cNvSpPr>
          <p:nvPr/>
        </p:nvSpPr>
        <p:spPr>
          <a:xfrm>
            <a:off x="4819650" y="3267075"/>
            <a:ext cx="63817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Избранные дела закрепляются над общим списком. Автор автоматически следит за своим делом.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DA80D7F-4B0F-43B4-B217-938D0116B5DB}"/>
              </a:ext>
            </a:extLst>
          </p:cNvPr>
          <p:cNvSpPr>
            <a:spLocks noGrp="1"/>
          </p:cNvSpPr>
          <p:nvPr/>
        </p:nvSpPr>
        <p:spPr>
          <a:xfrm>
            <a:off x="685800" y="4219575"/>
            <a:ext cx="10525125" cy="9525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45553F1-4682-4D94-837D-234BB94938F2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5810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4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21DB213-B677-49F3-9DE1-4AA3209E0039}"/>
              </a:ext>
            </a:extLst>
          </p:cNvPr>
          <p:cNvSpPr>
            <a:spLocks noGrp="1"/>
          </p:cNvSpPr>
          <p:nvPr/>
        </p:nvSpPr>
        <p:spPr>
          <a:xfrm>
            <a:off x="1428750" y="443865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Черновик обращения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F698829-1892-46D1-9FD7-71AB4B37EFCD}"/>
              </a:ext>
            </a:extLst>
          </p:cNvPr>
          <p:cNvSpPr>
            <a:spLocks noGrp="1"/>
          </p:cNvSpPr>
          <p:nvPr/>
        </p:nvSpPr>
        <p:spPr>
          <a:xfrm>
            <a:off x="4819650" y="4419600"/>
            <a:ext cx="63817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Текст по делу можно скопировать или скачать для самостоятельной отправки.</a:t>
            </a:r>
          </a:p>
        </p:txBody>
      </p:sp>
    </p:spTree>
    <p:extLst>
      <p:ext uri="{BB962C8B-B14F-4D97-AF65-F5344CB8AC3E}">
        <p14:creationId xmlns:p14="http://schemas.microsoft.com/office/powerpoint/2010/main" val="1759282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2B74438-4301-4CA7-AC28-02E94C6ACB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A1EA730-8063-4BB3-9CF7-ED75F601161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ОБЩИЕ ВОПРОСЫ ДОМА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4DA9018-F0A0-4143-A430-6E18A9F7764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156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Опросы и сводка по дому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2D3E0F1-8CC2-403C-AB2F-12DCA422F499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953750" cy="9525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4E33436-24AA-4A40-909B-DC3ECCC3BCAF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FEDB3FE-F34D-4B62-B19D-5261923A4242}"/>
              </a:ext>
            </a:extLst>
          </p:cNvPr>
          <p:cNvSpPr>
            <a:spLocks noGrp="1"/>
          </p:cNvSpPr>
          <p:nvPr/>
        </p:nvSpPr>
        <p:spPr>
          <a:xfrm>
            <a:off x="11001375" y="6343650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F62BEC2-BFD2-4876-9226-550A9F68C7C1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55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Председатель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5B049A9-A98D-4F84-9100-DEF907F14FA8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4667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Председатель создаёт опрос с вариантами ответа и датой завершения. Житель выбирает один вариант и видит итог.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4B31CD3-701C-44AB-AA5F-784677F7F54F}"/>
              </a:ext>
            </a:extLst>
          </p:cNvPr>
          <p:cNvSpPr>
            <a:spLocks noGrp="1"/>
          </p:cNvSpPr>
          <p:nvPr/>
        </p:nvSpPr>
        <p:spPr>
          <a:xfrm>
            <a:off x="5857875" y="2057400"/>
            <a:ext cx="19050" cy="3381375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A7DAB38-B6FD-4FEF-9E11-F01C3CABEA1A}"/>
              </a:ext>
            </a:extLst>
          </p:cNvPr>
          <p:cNvSpPr>
            <a:spLocks noGrp="1"/>
          </p:cNvSpPr>
          <p:nvPr/>
        </p:nvSpPr>
        <p:spPr>
          <a:xfrm>
            <a:off x="6276975" y="2095500"/>
            <a:ext cx="4905375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55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Представитель муниципалитета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EA901F6-4F41-4ADD-8E58-FB4DD062B633}"/>
              </a:ext>
            </a:extLst>
          </p:cNvPr>
          <p:cNvSpPr>
            <a:spLocks noGrp="1"/>
          </p:cNvSpPr>
          <p:nvPr/>
        </p:nvSpPr>
        <p:spPr>
          <a:xfrm>
            <a:off x="6276975" y="2981325"/>
            <a:ext cx="4905375" cy="1857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Представитель муниципалитета просматривает агрегаты: число дел, категории, подтверждения и просроченные прогнозы.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404F1FB-B118-4410-A38F-C065B84F5385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10477500" cy="619125"/>
          </a:xfrm>
          <a:prstGeom prst="roundRect">
            <a:avLst>
              <a:gd name="adj" fmla="val 18462"/>
            </a:avLst>
          </a:prstGeom>
          <a:solidFill>
            <a:srgbClr val="EEE9FF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F55603F-3DC4-49E2-B303-6C8A26F57D3E}"/>
              </a:ext>
            </a:extLst>
          </p:cNvPr>
          <p:cNvSpPr>
            <a:spLocks noGrp="1"/>
          </p:cNvSpPr>
          <p:nvPr/>
        </p:nvSpPr>
        <p:spPr>
          <a:xfrm>
            <a:off x="895350" y="5219700"/>
            <a:ext cx="100869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Опрос служит предварительному обсуждению. Юридическую силу собрания собственников он не имеет.</a:t>
            </a:r>
          </a:p>
        </p:txBody>
      </p:sp>
    </p:spTree>
    <p:extLst>
      <p:ext uri="{BB962C8B-B14F-4D97-AF65-F5344CB8AC3E}">
        <p14:creationId xmlns:p14="http://schemas.microsoft.com/office/powerpoint/2010/main" val="793180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C3582A1-2DD6-4C4C-A5A7-9720F939AE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EF5B440-172F-438B-8EB2-225B9227234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ДАННЫЕ О ДОМЕ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64EDB6A-3840-4F6D-A337-E066E66331D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156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Источники сведений о доме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4E07E00-E5A0-41B4-8546-14B9C70E9AF3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953750" cy="9525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9E3EFB4-8092-41EF-A57B-8178AEF0E88A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73ACA65-0365-466E-82CE-38178D378D80}"/>
              </a:ext>
            </a:extLst>
          </p:cNvPr>
          <p:cNvSpPr>
            <a:spLocks noGrp="1"/>
          </p:cNvSpPr>
          <p:nvPr/>
        </p:nvSpPr>
        <p:spPr>
          <a:xfrm>
            <a:off x="11001375" y="6343650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E894E31-8D92-411C-83CB-A4D6DE58C7BB}"/>
              </a:ext>
            </a:extLst>
          </p:cNvPr>
          <p:cNvSpPr>
            <a:spLocks noGrp="1"/>
          </p:cNvSpPr>
          <p:nvPr/>
        </p:nvSpPr>
        <p:spPr>
          <a:xfrm>
            <a:off x="714375" y="2133600"/>
            <a:ext cx="357187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1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Адрес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65638CB-34E9-4D5A-B90D-9E5033406A7B}"/>
              </a:ext>
            </a:extLst>
          </p:cNvPr>
          <p:cNvSpPr>
            <a:spLocks noGrp="1"/>
          </p:cNvSpPr>
          <p:nvPr/>
        </p:nvSpPr>
        <p:spPr>
          <a:xfrm>
            <a:off x="4391025" y="2133600"/>
            <a:ext cx="66389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Подсказки DaData с кодом ГАР; сервер повторно сверяет выбранный дом.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7D98F08-40F1-41D6-AD74-1C01638F69CF}"/>
              </a:ext>
            </a:extLst>
          </p:cNvPr>
          <p:cNvSpPr>
            <a:spLocks noGrp="1"/>
          </p:cNvSpPr>
          <p:nvPr/>
        </p:nvSpPr>
        <p:spPr>
          <a:xfrm>
            <a:off x="714375" y="3086100"/>
            <a:ext cx="10429875" cy="9525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EFFD215-1DEA-4BB0-8840-DD2A9A42910A}"/>
              </a:ext>
            </a:extLst>
          </p:cNvPr>
          <p:cNvSpPr>
            <a:spLocks noGrp="1"/>
          </p:cNvSpPr>
          <p:nvPr/>
        </p:nvSpPr>
        <p:spPr>
          <a:xfrm>
            <a:off x="714375" y="3267075"/>
            <a:ext cx="357187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1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Управляющая организация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A5D2DE1-BC06-47D4-975A-EBB66D555ABE}"/>
              </a:ext>
            </a:extLst>
          </p:cNvPr>
          <p:cNvSpPr>
            <a:spLocks noGrp="1"/>
          </p:cNvSpPr>
          <p:nvPr/>
        </p:nvSpPr>
        <p:spPr>
          <a:xfrm>
            <a:off x="4391025" y="3267075"/>
            <a:ext cx="66389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Открытый датированный срез сведений ГИС ЖКХ в обработке «Если быть точным».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BC8579A-E807-4B4F-AEBD-887B15F0F42B}"/>
              </a:ext>
            </a:extLst>
          </p:cNvPr>
          <p:cNvSpPr>
            <a:spLocks noGrp="1"/>
          </p:cNvSpPr>
          <p:nvPr/>
        </p:nvSpPr>
        <p:spPr>
          <a:xfrm>
            <a:off x="714375" y="4219575"/>
            <a:ext cx="10429875" cy="9525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127818F-82B6-4EE3-8DAE-ACC14DE3E1EF}"/>
              </a:ext>
            </a:extLst>
          </p:cNvPr>
          <p:cNvSpPr>
            <a:spLocks noGrp="1"/>
          </p:cNvSpPr>
          <p:nvPr/>
        </p:nvSpPr>
        <p:spPr>
          <a:xfrm>
            <a:off x="714375" y="4400550"/>
            <a:ext cx="357187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1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Капитальный ремонт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A0565A0-D9B7-4E32-BE78-9C0DE3C0EECC}"/>
              </a:ext>
            </a:extLst>
          </p:cNvPr>
          <p:cNvSpPr>
            <a:spLocks noGrp="1"/>
          </p:cNvSpPr>
          <p:nvPr/>
        </p:nvSpPr>
        <p:spPr>
          <a:xfrm>
            <a:off x="4391025" y="4400550"/>
            <a:ext cx="66389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Выгрузки ФРТ: программа, работы, сроки и источники при наличии записи.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F9F2439A-BB1D-480F-A0E8-97A249DB7441}"/>
              </a:ext>
            </a:extLst>
          </p:cNvPr>
          <p:cNvSpPr>
            <a:spLocks noGrp="1"/>
          </p:cNvSpPr>
          <p:nvPr/>
        </p:nvSpPr>
        <p:spPr>
          <a:xfrm>
            <a:off x="714375" y="5629275"/>
            <a:ext cx="10429875" cy="466725"/>
          </a:xfrm>
          <a:prstGeom prst="roundRect">
            <a:avLst>
              <a:gd name="adj" fmla="val 20408"/>
            </a:avLst>
          </a:prstGeom>
          <a:solidFill>
            <a:srgbClr val="EEE9FF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907BEAE-46C0-4BCB-8B82-129B0330BB11}"/>
              </a:ext>
            </a:extLst>
          </p:cNvPr>
          <p:cNvSpPr>
            <a:spLocks noGrp="1"/>
          </p:cNvSpPr>
          <p:nvPr/>
        </p:nvSpPr>
        <p:spPr>
          <a:xfrm>
            <a:off x="914400" y="5695950"/>
            <a:ext cx="100393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Дата среза важна: сведения могут устареть. Отсутствие записи и недоступность источника видны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708556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AA6E702-28F1-4F2B-AF75-793970E654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4CF0446-2399-4F29-AC66-7D298FFB20E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MAX КАК СРЕДА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5FD1F80-8B3F-4FE8-A414-954FF79DC3F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156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Роль каждого канала в MAX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9797DB2-2F28-4AFD-B69D-5749096F4F7C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953750" cy="9525"/>
          </a:xfrm>
          <a:prstGeom prst="rect">
            <a:avLst/>
          </a:prstGeom>
          <a:solidFill>
            <a:srgbClr val="6E1AFF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220F77A-178F-413A-AD91-4548657818FD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0657886-4A40-4755-BFE3-8992D334DBA3}"/>
              </a:ext>
            </a:extLst>
          </p:cNvPr>
          <p:cNvSpPr>
            <a:spLocks noGrp="1"/>
          </p:cNvSpPr>
          <p:nvPr/>
        </p:nvSpPr>
        <p:spPr>
          <a:xfrm>
            <a:off x="11001375" y="6343650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F61594D-DB16-4391-B45F-710E76A07536}"/>
              </a:ext>
            </a:extLst>
          </p:cNvPr>
          <p:cNvSpPr>
            <a:spLocks noGrp="1"/>
          </p:cNvSpPr>
          <p:nvPr/>
        </p:nvSpPr>
        <p:spPr>
          <a:xfrm>
            <a:off x="666750" y="2295525"/>
            <a:ext cx="33432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2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814BA1-0433-4A1E-83D2-E73A4B1ED7F8}"/>
              </a:ext>
            </a:extLst>
          </p:cNvPr>
          <p:cNvSpPr>
            <a:spLocks noGrp="1"/>
          </p:cNvSpPr>
          <p:nvPr/>
        </p:nvSpPr>
        <p:spPr>
          <a:xfrm>
            <a:off x="666750" y="2905125"/>
            <a:ext cx="3228975" cy="19050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3068D42-FDEF-4FB4-930E-B0E3AC1EA229}"/>
              </a:ext>
            </a:extLst>
          </p:cNvPr>
          <p:cNvSpPr>
            <a:spLocks noGrp="1"/>
          </p:cNvSpPr>
          <p:nvPr/>
        </p:nvSpPr>
        <p:spPr>
          <a:xfrm>
            <a:off x="666750" y="3076575"/>
            <a:ext cx="32099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Бот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23FFF3-9B38-4C1D-B040-32237F0E62B3}"/>
              </a:ext>
            </a:extLst>
          </p:cNvPr>
          <p:cNvSpPr>
            <a:spLocks noGrp="1"/>
          </p:cNvSpPr>
          <p:nvPr/>
        </p:nvSpPr>
        <p:spPr>
          <a:xfrm>
            <a:off x="666750" y="3781425"/>
            <a:ext cx="3209925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Быстрый вход и короткие действия в диалоге.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35601DA-D835-4C1F-8B55-C044B02A617C}"/>
              </a:ext>
            </a:extLst>
          </p:cNvPr>
          <p:cNvSpPr>
            <a:spLocks noGrp="1"/>
          </p:cNvSpPr>
          <p:nvPr/>
        </p:nvSpPr>
        <p:spPr>
          <a:xfrm>
            <a:off x="4400550" y="2295525"/>
            <a:ext cx="33432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2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BAA9226-0910-49DD-8727-54AE0B612AD8}"/>
              </a:ext>
            </a:extLst>
          </p:cNvPr>
          <p:cNvSpPr>
            <a:spLocks noGrp="1"/>
          </p:cNvSpPr>
          <p:nvPr/>
        </p:nvSpPr>
        <p:spPr>
          <a:xfrm>
            <a:off x="4400550" y="2905125"/>
            <a:ext cx="3228975" cy="19050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EBFFEA7-863B-408C-AB4F-E8C583F26BC3}"/>
              </a:ext>
            </a:extLst>
          </p:cNvPr>
          <p:cNvSpPr>
            <a:spLocks noGrp="1"/>
          </p:cNvSpPr>
          <p:nvPr/>
        </p:nvSpPr>
        <p:spPr>
          <a:xfrm>
            <a:off x="4400550" y="3076575"/>
            <a:ext cx="32099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Mini App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EFA4AB4-5FA1-4FEA-980F-A5515AE5C59D}"/>
              </a:ext>
            </a:extLst>
          </p:cNvPr>
          <p:cNvSpPr>
            <a:spLocks noGrp="1"/>
          </p:cNvSpPr>
          <p:nvPr/>
        </p:nvSpPr>
        <p:spPr>
          <a:xfrm>
            <a:off x="4400550" y="3781425"/>
            <a:ext cx="3209925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Подробный интерфейс для просмотра и работы с данными.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25BCC40-3D6D-4A16-8CE8-343C3BADDFC3}"/>
              </a:ext>
            </a:extLst>
          </p:cNvPr>
          <p:cNvSpPr>
            <a:spLocks noGrp="1"/>
          </p:cNvSpPr>
          <p:nvPr/>
        </p:nvSpPr>
        <p:spPr>
          <a:xfrm>
            <a:off x="8115300" y="2295525"/>
            <a:ext cx="33432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2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F18084B-1592-46AD-8839-08A86C15B94D}"/>
              </a:ext>
            </a:extLst>
          </p:cNvPr>
          <p:cNvSpPr>
            <a:spLocks noGrp="1"/>
          </p:cNvSpPr>
          <p:nvPr/>
        </p:nvSpPr>
        <p:spPr>
          <a:xfrm>
            <a:off x="8115300" y="2905125"/>
            <a:ext cx="3228975" cy="19050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35145B3-00CB-45A8-BC57-A4AECA3B1A18}"/>
              </a:ext>
            </a:extLst>
          </p:cNvPr>
          <p:cNvSpPr>
            <a:spLocks noGrp="1"/>
          </p:cNvSpPr>
          <p:nvPr/>
        </p:nvSpPr>
        <p:spPr>
          <a:xfrm>
            <a:off x="8115300" y="3076575"/>
            <a:ext cx="32099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Домовой чат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AC0F33C-4715-4586-9BD3-5F203362A094}"/>
              </a:ext>
            </a:extLst>
          </p:cNvPr>
          <p:cNvSpPr>
            <a:spLocks noGrp="1"/>
          </p:cNvSpPr>
          <p:nvPr/>
        </p:nvSpPr>
        <p:spPr>
          <a:xfrm>
            <a:off x="8115300" y="3781425"/>
            <a:ext cx="3209925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Общие уведомления о событиях своего дома.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43DA917-9435-43D7-8DBB-423BD0F1ECBF}"/>
              </a:ext>
            </a:extLst>
          </p:cNvPr>
          <p:cNvSpPr>
            <a:spLocks noGrp="1"/>
          </p:cNvSpPr>
          <p:nvPr/>
        </p:nvSpPr>
        <p:spPr>
          <a:xfrm>
            <a:off x="704850" y="5238750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Публикации в группу требуют подтверждённой привязки чата к конкретному дому.</a:t>
            </a:r>
          </a:p>
        </p:txBody>
      </p:sp>
    </p:spTree>
    <p:extLst>
      <p:ext uri="{BB962C8B-B14F-4D97-AF65-F5344CB8AC3E}">
        <p14:creationId xmlns:p14="http://schemas.microsoft.com/office/powerpoint/2010/main" val="403990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3D75727-8631-4E40-8634-874F9C11AD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3FC42CE-F364-4D16-BF61-510CA5B6461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КОНТРОЛЬ ВРЕМЕНИ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09FCE25-31F0-4FF6-80CF-0A4DEF6C4C9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156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Контрольные даты и фактическое время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A46AB8C-FE52-4BBD-AAD4-A3616933C1A8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953750" cy="9525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0682523-3DD7-4F92-BED4-F9F1DE551713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084557-3D6C-4E66-8791-2C270EB02619}"/>
              </a:ext>
            </a:extLst>
          </p:cNvPr>
          <p:cNvSpPr>
            <a:spLocks noGrp="1"/>
          </p:cNvSpPr>
          <p:nvPr/>
        </p:nvSpPr>
        <p:spPr>
          <a:xfrm>
            <a:off x="11001375" y="6343650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78A05D8-9E66-4DA0-A43F-05EAD5F09B29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47529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17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Категории с контрольной датой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50D8969-995E-4D34-8FA9-D3A6FF2AD91E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4657725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Освещение, подъезд и двери, лифт, вода, отопление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DEA38D0-3621-4B32-ABC7-20FF3408D151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4714875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Правило показано в карточке вместе с источником и оговоркой о применимости. Отсчёт начинается при передаче дела в рабочую очередь УК.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6C7D37F-9A18-45CB-8F17-1EA0F9CD9B46}"/>
              </a:ext>
            </a:extLst>
          </p:cNvPr>
          <p:cNvSpPr>
            <a:spLocks noGrp="1"/>
          </p:cNvSpPr>
          <p:nvPr/>
        </p:nvSpPr>
        <p:spPr>
          <a:xfrm>
            <a:off x="5829300" y="2057400"/>
            <a:ext cx="19050" cy="3486150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09EBC90-A1C9-4150-8DE1-39971CC9356A}"/>
              </a:ext>
            </a:extLst>
          </p:cNvPr>
          <p:cNvSpPr>
            <a:spLocks noGrp="1"/>
          </p:cNvSpPr>
          <p:nvPr/>
        </p:nvSpPr>
        <p:spPr>
          <a:xfrm>
            <a:off x="6286500" y="2057400"/>
            <a:ext cx="4914900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17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Без единого нормативного срока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2522292-1750-4A7F-8710-A53BF950EDBB}"/>
              </a:ext>
            </a:extLst>
          </p:cNvPr>
          <p:cNvSpPr>
            <a:spLocks noGrp="1"/>
          </p:cNvSpPr>
          <p:nvPr/>
        </p:nvSpPr>
        <p:spPr>
          <a:xfrm>
            <a:off x="6286500" y="2895600"/>
            <a:ext cx="48387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7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«Двор» и «Другое»: видно фактическое время в работе без обещания юридического срока.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481F678-B939-472A-9074-5DE3F021DCB8}"/>
              </a:ext>
            </a:extLst>
          </p:cNvPr>
          <p:cNvSpPr>
            <a:spLocks noGrp="1"/>
          </p:cNvSpPr>
          <p:nvPr/>
        </p:nvSpPr>
        <p:spPr>
          <a:xfrm>
            <a:off x="6286500" y="4324350"/>
            <a:ext cx="4838700" cy="1171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Если контрольная дата прошла, появляется ссылка на инструкцию ГИС ЖКХ для самостоятельной подачи обращения.</a:t>
            </a:r>
          </a:p>
        </p:txBody>
      </p:sp>
    </p:spTree>
    <p:extLst>
      <p:ext uri="{BB962C8B-B14F-4D97-AF65-F5344CB8AC3E}">
        <p14:creationId xmlns:p14="http://schemas.microsoft.com/office/powerpoint/2010/main" val="281177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0609193-94D3-43B0-8C21-62A7A6A161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FE49E12-7A29-4941-A6C2-7957EC90952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ТЕХНИЧЕСКАЯ ОСНОВА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469C6B3-3A54-48FC-BCCE-80D7CB195B28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156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Архитектура и устойчивость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9B1F1BD-9FBA-40C7-8DAE-F2E88D4F84BA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953750" cy="9525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4419EE0-AA54-49E6-BEAE-183A69A04A15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7031A5D-BB9F-44F4-A6BD-E84F6FFFD88B}"/>
              </a:ext>
            </a:extLst>
          </p:cNvPr>
          <p:cNvSpPr>
            <a:spLocks noGrp="1"/>
          </p:cNvSpPr>
          <p:nvPr/>
        </p:nvSpPr>
        <p:spPr>
          <a:xfrm>
            <a:off x="11001375" y="6343650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D8C7D80-CA60-4219-BE83-FC909AFAB832}"/>
              </a:ext>
            </a:extLst>
          </p:cNvPr>
          <p:cNvSpPr>
            <a:spLocks noGrp="1"/>
          </p:cNvSpPr>
          <p:nvPr/>
        </p:nvSpPr>
        <p:spPr>
          <a:xfrm>
            <a:off x="657225" y="2181225"/>
            <a:ext cx="1924050" cy="1228725"/>
          </a:xfrm>
          <a:prstGeom prst="roundRect">
            <a:avLst>
              <a:gd name="adj" fmla="val 10078"/>
            </a:avLst>
          </a:prstGeom>
          <a:solidFill>
            <a:srgbClr val="F7F5FF"/>
          </a:solidFill>
          <a:ln w="9525">
            <a:solidFill>
              <a:srgbClr val="DCD4F5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D49962-4ADD-48A0-B8A4-963031BA35E4}"/>
              </a:ext>
            </a:extLst>
          </p:cNvPr>
          <p:cNvSpPr>
            <a:spLocks noGrp="1"/>
          </p:cNvSpPr>
          <p:nvPr/>
        </p:nvSpPr>
        <p:spPr>
          <a:xfrm>
            <a:off x="809625" y="2324100"/>
            <a:ext cx="1619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MAX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2CFA74E-3E60-464D-AE32-9BA8667309CC}"/>
              </a:ext>
            </a:extLst>
          </p:cNvPr>
          <p:cNvSpPr>
            <a:spLocks noGrp="1"/>
          </p:cNvSpPr>
          <p:nvPr/>
        </p:nvSpPr>
        <p:spPr>
          <a:xfrm>
            <a:off x="809625" y="2876550"/>
            <a:ext cx="161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бот + Mini App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AF17D89C-BB81-4513-9DC9-DD9CBAAFAE9D}"/>
              </a:ext>
            </a:extLst>
          </p:cNvPr>
          <p:cNvSpPr>
            <a:spLocks noGrp="1"/>
          </p:cNvSpPr>
          <p:nvPr/>
        </p:nvSpPr>
        <p:spPr>
          <a:xfrm>
            <a:off x="2990850" y="2181225"/>
            <a:ext cx="2143125" cy="1228725"/>
          </a:xfrm>
          <a:prstGeom prst="roundRect">
            <a:avLst>
              <a:gd name="adj" fmla="val 10078"/>
            </a:avLst>
          </a:prstGeom>
          <a:solidFill>
            <a:srgbClr val="EEE9FF"/>
          </a:solidFill>
          <a:ln w="9525">
            <a:solidFill>
              <a:srgbClr val="DCD4F5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428EF32-9D30-4466-AF0B-BECEB261A297}"/>
              </a:ext>
            </a:extLst>
          </p:cNvPr>
          <p:cNvSpPr>
            <a:spLocks noGrp="1"/>
          </p:cNvSpPr>
          <p:nvPr/>
        </p:nvSpPr>
        <p:spPr>
          <a:xfrm>
            <a:off x="3143250" y="2324100"/>
            <a:ext cx="18383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Fastify API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D4618B3-95FC-43E1-BE4F-A1C9CD0FDE1A}"/>
              </a:ext>
            </a:extLst>
          </p:cNvPr>
          <p:cNvSpPr>
            <a:spLocks noGrp="1"/>
          </p:cNvSpPr>
          <p:nvPr/>
        </p:nvSpPr>
        <p:spPr>
          <a:xfrm>
            <a:off x="3143250" y="2876550"/>
            <a:ext cx="18383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auth · cases · polls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8EFDAEC3-99F8-447B-BE0A-9624DC0C8919}"/>
              </a:ext>
            </a:extLst>
          </p:cNvPr>
          <p:cNvSpPr>
            <a:spLocks noGrp="1"/>
          </p:cNvSpPr>
          <p:nvPr/>
        </p:nvSpPr>
        <p:spPr>
          <a:xfrm>
            <a:off x="5543550" y="2181225"/>
            <a:ext cx="2085975" cy="1228725"/>
          </a:xfrm>
          <a:prstGeom prst="roundRect">
            <a:avLst>
              <a:gd name="adj" fmla="val 10078"/>
            </a:avLst>
          </a:prstGeom>
          <a:solidFill>
            <a:srgbClr val="F7F5FF"/>
          </a:solidFill>
          <a:ln w="9525">
            <a:solidFill>
              <a:srgbClr val="DCD4F5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1C500A8-9FCC-4836-B3F8-D469BF88DB88}"/>
              </a:ext>
            </a:extLst>
          </p:cNvPr>
          <p:cNvSpPr>
            <a:spLocks noGrp="1"/>
          </p:cNvSpPr>
          <p:nvPr/>
        </p:nvSpPr>
        <p:spPr>
          <a:xfrm>
            <a:off x="5695950" y="2324100"/>
            <a:ext cx="17811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68C3C9C-E79B-4FAB-8A31-83E0775E5760}"/>
              </a:ext>
            </a:extLst>
          </p:cNvPr>
          <p:cNvSpPr>
            <a:spLocks noGrp="1"/>
          </p:cNvSpPr>
          <p:nvPr/>
        </p:nvSpPr>
        <p:spPr>
          <a:xfrm>
            <a:off x="5695950" y="2876550"/>
            <a:ext cx="17811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дела · роли · история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13CD3941-6D47-4658-9CD4-0B8B87130179}"/>
              </a:ext>
            </a:extLst>
          </p:cNvPr>
          <p:cNvSpPr>
            <a:spLocks noGrp="1"/>
          </p:cNvSpPr>
          <p:nvPr/>
        </p:nvSpPr>
        <p:spPr>
          <a:xfrm>
            <a:off x="8039100" y="2181225"/>
            <a:ext cx="2838450" cy="1228725"/>
          </a:xfrm>
          <a:prstGeom prst="roundRect">
            <a:avLst>
              <a:gd name="adj" fmla="val 10078"/>
            </a:avLst>
          </a:prstGeom>
          <a:solidFill>
            <a:srgbClr val="EEE9FF"/>
          </a:solidFill>
          <a:ln w="9525">
            <a:solidFill>
              <a:srgbClr val="DCD4F5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89AE728-166F-4A62-88B0-85EADD007B4C}"/>
              </a:ext>
            </a:extLst>
          </p:cNvPr>
          <p:cNvSpPr>
            <a:spLocks noGrp="1"/>
          </p:cNvSpPr>
          <p:nvPr/>
        </p:nvSpPr>
        <p:spPr>
          <a:xfrm>
            <a:off x="8191500" y="2324100"/>
            <a:ext cx="25336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025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Outbox + MAX API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6FFD84B-91DB-4DD0-B35C-473D41B41C68}"/>
              </a:ext>
            </a:extLst>
          </p:cNvPr>
          <p:cNvSpPr>
            <a:spLocks noGrp="1"/>
          </p:cNvSpPr>
          <p:nvPr/>
        </p:nvSpPr>
        <p:spPr>
          <a:xfrm>
            <a:off x="8191500" y="2876550"/>
            <a:ext cx="2533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75" b="0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536D"/>
                </a:solidFill>
                <a:latin typeface="Arial"/>
                <a:ea typeface="Arial"/>
                <a:cs typeface="Arial"/>
              </a:rPr>
              <a:t>очередь уведомлений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851CF20-05F4-4347-BEDF-C19DBC8902E9}"/>
              </a:ext>
            </a:extLst>
          </p:cNvPr>
          <p:cNvSpPr>
            <a:spLocks noGrp="1"/>
          </p:cNvSpPr>
          <p:nvPr/>
        </p:nvSpPr>
        <p:spPr>
          <a:xfrm>
            <a:off x="2667000" y="2495550"/>
            <a:ext cx="266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4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A3B9A34-8F0D-43AF-887D-0D4C1CF4B951}"/>
              </a:ext>
            </a:extLst>
          </p:cNvPr>
          <p:cNvSpPr>
            <a:spLocks noGrp="1"/>
          </p:cNvSpPr>
          <p:nvPr/>
        </p:nvSpPr>
        <p:spPr>
          <a:xfrm>
            <a:off x="5219700" y="2495550"/>
            <a:ext cx="266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4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05DE4BC-D6DE-4475-9D2D-60D73FDDEDFA}"/>
              </a:ext>
            </a:extLst>
          </p:cNvPr>
          <p:cNvSpPr>
            <a:spLocks noGrp="1"/>
          </p:cNvSpPr>
          <p:nvPr/>
        </p:nvSpPr>
        <p:spPr>
          <a:xfrm>
            <a:off x="7715250" y="2495550"/>
            <a:ext cx="2667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4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60155D1-A925-43DE-9AAC-4D388109EC70}"/>
              </a:ext>
            </a:extLst>
          </p:cNvPr>
          <p:cNvSpPr>
            <a:spLocks noGrp="1"/>
          </p:cNvSpPr>
          <p:nvPr/>
        </p:nvSpPr>
        <p:spPr>
          <a:xfrm>
            <a:off x="666750" y="3876675"/>
            <a:ext cx="104203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325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Защита и устойчивость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6AEB4E0A-8CA5-46FC-BA04-06D992F39FB9}"/>
              </a:ext>
            </a:extLst>
          </p:cNvPr>
          <p:cNvSpPr>
            <a:spLocks noGrp="1"/>
          </p:cNvSpPr>
          <p:nvPr/>
        </p:nvSpPr>
        <p:spPr>
          <a:xfrm>
            <a:off x="676275" y="4543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596F0A7-354C-484E-92B6-F0300561DE3D}"/>
              </a:ext>
            </a:extLst>
          </p:cNvPr>
          <p:cNvSpPr>
            <a:spLocks noGrp="1"/>
          </p:cNvSpPr>
          <p:nvPr/>
        </p:nvSpPr>
        <p:spPr>
          <a:xfrm>
            <a:off x="923925" y="4457700"/>
            <a:ext cx="101441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Сервер проверяет подпись MAX и права пользователя. Секреты хранятся в окружении.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1EA4EC01-06C8-46CA-A242-C501CC5340F4}"/>
              </a:ext>
            </a:extLst>
          </p:cNvPr>
          <p:cNvSpPr>
            <a:spLocks noGrp="1"/>
          </p:cNvSpPr>
          <p:nvPr/>
        </p:nvSpPr>
        <p:spPr>
          <a:xfrm>
            <a:off x="676275" y="5038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A3B86D8-C383-4432-89B8-54E2C304E520}"/>
              </a:ext>
            </a:extLst>
          </p:cNvPr>
          <p:cNvSpPr>
            <a:spLocks noGrp="1"/>
          </p:cNvSpPr>
          <p:nvPr/>
        </p:nvSpPr>
        <p:spPr>
          <a:xfrm>
            <a:off x="923925" y="4953000"/>
            <a:ext cx="1014412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Повторный webhook не создаёт дубль. Конфликт версии возвращает явную ошибку.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2B277D64-4ACC-4268-924B-97F074BA4D67}"/>
              </a:ext>
            </a:extLst>
          </p:cNvPr>
          <p:cNvSpPr>
            <a:spLocks noGrp="1"/>
          </p:cNvSpPr>
          <p:nvPr/>
        </p:nvSpPr>
        <p:spPr>
          <a:xfrm>
            <a:off x="676275" y="5638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68B0103-4EC7-4599-85CF-451AC29CD69A}"/>
              </a:ext>
            </a:extLst>
          </p:cNvPr>
          <p:cNvSpPr>
            <a:spLocks noGrp="1"/>
          </p:cNvSpPr>
          <p:nvPr/>
        </p:nvSpPr>
        <p:spPr>
          <a:xfrm>
            <a:off x="923925" y="5553075"/>
            <a:ext cx="1014412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Объектное хранилище содержит фото. Изменение статуса, история и уведомление согласованы.</a:t>
            </a:r>
          </a:p>
        </p:txBody>
      </p:sp>
    </p:spTree>
    <p:extLst>
      <p:ext uri="{BB962C8B-B14F-4D97-AF65-F5344CB8AC3E}">
        <p14:creationId xmlns:p14="http://schemas.microsoft.com/office/powerpoint/2010/main" val="1529060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A9DED33-BED2-46DB-B414-136028D730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62816C0-3628-4284-B36E-F6748E5F6DA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УСЛОВИЯ ВНЕДРЕНИЯ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43F0161-E484-42FB-A40F-459FF0F9E2B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156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Доступ, интеграции и риски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2B95823-9317-450B-A976-399995C172F1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953750" cy="9525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7CE9870-6522-48D4-AE06-49642C5B17D1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0EB9201-09F2-4415-A845-713DEBB60181}"/>
              </a:ext>
            </a:extLst>
          </p:cNvPr>
          <p:cNvSpPr>
            <a:spLocks noGrp="1"/>
          </p:cNvSpPr>
          <p:nvPr/>
        </p:nvSpPr>
        <p:spPr>
          <a:xfrm>
            <a:off x="11001375" y="6343650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D1CB30D-3248-4CCB-A1FB-13DBC897AF03}"/>
              </a:ext>
            </a:extLst>
          </p:cNvPr>
          <p:cNvSpPr>
            <a:spLocks noGrp="1"/>
          </p:cNvSpPr>
          <p:nvPr/>
        </p:nvSpPr>
        <p:spPr>
          <a:xfrm>
            <a:off x="695325" y="2066925"/>
            <a:ext cx="2914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Официальная подача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6E587AC-F4E4-4B12-B164-3C1E1046EEC7}"/>
              </a:ext>
            </a:extLst>
          </p:cNvPr>
          <p:cNvSpPr>
            <a:spLocks noGrp="1"/>
          </p:cNvSpPr>
          <p:nvPr/>
        </p:nvSpPr>
        <p:spPr>
          <a:xfrm>
            <a:off x="3781425" y="2066925"/>
            <a:ext cx="74199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Обращение в УК или ГИС ЖКХ пользователь отправляет самостоятельно. Автоматической интеграции в MVP нет.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947438B-A964-4E88-A0C4-13304723E35D}"/>
              </a:ext>
            </a:extLst>
          </p:cNvPr>
          <p:cNvSpPr>
            <a:spLocks noGrp="1"/>
          </p:cNvSpPr>
          <p:nvPr/>
        </p:nvSpPr>
        <p:spPr>
          <a:xfrm>
            <a:off x="695325" y="2933700"/>
            <a:ext cx="10525125" cy="9525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E40F738-ED75-4997-8DB7-3ADA506F4160}"/>
              </a:ext>
            </a:extLst>
          </p:cNvPr>
          <p:cNvSpPr>
            <a:spLocks noGrp="1"/>
          </p:cNvSpPr>
          <p:nvPr/>
        </p:nvSpPr>
        <p:spPr>
          <a:xfrm>
            <a:off x="695325" y="3171825"/>
            <a:ext cx="2914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Участники и права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4C97A16-90C8-4DF9-81E4-87FDE3E61956}"/>
              </a:ext>
            </a:extLst>
          </p:cNvPr>
          <p:cNvSpPr>
            <a:spLocks noGrp="1"/>
          </p:cNvSpPr>
          <p:nvPr/>
        </p:nvSpPr>
        <p:spPr>
          <a:xfrm>
            <a:off x="3781425" y="3171825"/>
            <a:ext cx="741997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Оператор проверяет проживание и полномочия УК, связывает чат с домом. Выбор адреса не даёт права доступа.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670DC3D-BBD6-4BC1-90CB-1C433F7414FD}"/>
              </a:ext>
            </a:extLst>
          </p:cNvPr>
          <p:cNvSpPr>
            <a:spLocks noGrp="1"/>
          </p:cNvSpPr>
          <p:nvPr/>
        </p:nvSpPr>
        <p:spPr>
          <a:xfrm>
            <a:off x="695325" y="4038600"/>
            <a:ext cx="10525125" cy="9525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F736F1C-1538-482B-BA79-E58ADB88F6B9}"/>
              </a:ext>
            </a:extLst>
          </p:cNvPr>
          <p:cNvSpPr>
            <a:spLocks noGrp="1"/>
          </p:cNvSpPr>
          <p:nvPr/>
        </p:nvSpPr>
        <p:spPr>
          <a:xfrm>
            <a:off x="695325" y="4276725"/>
            <a:ext cx="29146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Ресурсы и риски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9201C18-08C7-4FDC-AF6E-F4C8795918BC}"/>
              </a:ext>
            </a:extLst>
          </p:cNvPr>
          <p:cNvSpPr>
            <a:spLocks noGrp="1"/>
          </p:cNvSpPr>
          <p:nvPr/>
        </p:nvSpPr>
        <p:spPr>
          <a:xfrm>
            <a:off x="3781425" y="4276725"/>
            <a:ext cx="741997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Для пилота нужны владелец процесса в УК, сервер, хранилище фото и права бота. Риски: устаревшие данные и недоступность сервисов.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975D3868-26A1-456C-916E-DD9EC3D41609}"/>
              </a:ext>
            </a:extLst>
          </p:cNvPr>
          <p:cNvSpPr>
            <a:spLocks noGrp="1"/>
          </p:cNvSpPr>
          <p:nvPr/>
        </p:nvSpPr>
        <p:spPr>
          <a:xfrm>
            <a:off x="685800" y="5514975"/>
            <a:ext cx="10544175" cy="466725"/>
          </a:xfrm>
          <a:prstGeom prst="roundRect">
            <a:avLst>
              <a:gd name="adj" fmla="val 18367"/>
            </a:avLst>
          </a:prstGeom>
          <a:solidFill>
            <a:srgbClr val="EEE9FF"/>
          </a:solidFill>
          <a:ln w="0">
            <a:noFill/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A38A4AA-8597-4075-A0B4-A66BA4DC74E0}"/>
              </a:ext>
            </a:extLst>
          </p:cNvPr>
          <p:cNvSpPr>
            <a:spLocks noGrp="1"/>
          </p:cNvSpPr>
          <p:nvPr/>
        </p:nvSpPr>
        <p:spPr>
          <a:xfrm>
            <a:off x="857250" y="5610225"/>
            <a:ext cx="102108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Материалы исходной версии: бриф «Умный город», README и код, брендбук MAX, DaData/ГАР, ФРТ, ГИС ЖКХ.</a:t>
            </a:r>
          </a:p>
        </p:txBody>
      </p:sp>
    </p:spTree>
    <p:extLst>
      <p:ext uri="{BB962C8B-B14F-4D97-AF65-F5344CB8AC3E}">
        <p14:creationId xmlns:p14="http://schemas.microsoft.com/office/powerpoint/2010/main" val="1717834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9177108-CF98-4DE4-9FCB-741DFA9C64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4AE94D4-2A54-42E2-A717-1D19506C8FF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СЛЕДУЮЩИЙ ЭТАП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55A2DE2-7FDD-41CF-A29C-B6F50141632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9156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450" b="1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D001A"/>
                </a:solidFill>
                <a:latin typeface="Arial"/>
                <a:ea typeface="Arial"/>
                <a:cs typeface="Arial"/>
              </a:rPr>
              <a:t>Пилот и критерии результата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D43116F-631D-4299-A5A3-1A1988404172}"/>
              </a:ext>
            </a:extLst>
          </p:cNvPr>
          <p:cNvSpPr>
            <a:spLocks noGrp="1"/>
          </p:cNvSpPr>
          <p:nvPr/>
        </p:nvSpPr>
        <p:spPr>
          <a:xfrm>
            <a:off x="609600" y="6238875"/>
            <a:ext cx="10953750" cy="9525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6CDDA5E-C40C-498F-AA6A-814F2D25CEB7}"/>
              </a:ext>
            </a:extLst>
          </p:cNvPr>
          <p:cNvSpPr>
            <a:spLocks noGrp="1"/>
          </p:cNvSpPr>
          <p:nvPr/>
        </p:nvSpPr>
        <p:spPr>
          <a:xfrm>
            <a:off x="609600" y="6372225"/>
            <a:ext cx="4000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975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ДОМДЕЛО  ×  MAX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5E273E8-38B8-41C6-A87F-408DB4F9050B}"/>
              </a:ext>
            </a:extLst>
          </p:cNvPr>
          <p:cNvSpPr>
            <a:spLocks noGrp="1"/>
          </p:cNvSpPr>
          <p:nvPr/>
        </p:nvSpPr>
        <p:spPr>
          <a:xfrm>
            <a:off x="11001375" y="6343650"/>
            <a:ext cx="552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2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1F3801B-6D6F-4B60-A95D-C28991A87D13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1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Метрики первого пилота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857A5BC2-364F-4861-A35D-6F204715D010}"/>
              </a:ext>
            </a:extLst>
          </p:cNvPr>
          <p:cNvSpPr>
            <a:spLocks noGrp="1"/>
          </p:cNvSpPr>
          <p:nvPr/>
        </p:nvSpPr>
        <p:spPr>
          <a:xfrm>
            <a:off x="685800" y="26574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B28808D-27DE-4A5E-B4C6-D43559CE7126}"/>
              </a:ext>
            </a:extLst>
          </p:cNvPr>
          <p:cNvSpPr>
            <a:spLocks noGrp="1"/>
          </p:cNvSpPr>
          <p:nvPr/>
        </p:nvSpPr>
        <p:spPr>
          <a:xfrm>
            <a:off x="933450" y="2571750"/>
            <a:ext cx="46101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Доля объединённых дублей. Ожидаем меньше повторов.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40F76BF-E2FC-4349-8D1C-E39E73312B2B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0FCFE64-FA0B-496A-A44C-A47E29510607}"/>
              </a:ext>
            </a:extLst>
          </p:cNvPr>
          <p:cNvSpPr>
            <a:spLocks noGrp="1"/>
          </p:cNvSpPr>
          <p:nvPr/>
        </p:nvSpPr>
        <p:spPr>
          <a:xfrm>
            <a:off x="933450" y="3248025"/>
            <a:ext cx="46101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Время до назначения. Ожидаем более быструю передачу.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D94967F-D280-46B7-945C-A68785E9968E}"/>
              </a:ext>
            </a:extLst>
          </p:cNvPr>
          <p:cNvSpPr>
            <a:spLocks noGrp="1"/>
          </p:cNvSpPr>
          <p:nvPr/>
        </p:nvSpPr>
        <p:spPr>
          <a:xfrm>
            <a:off x="685800" y="40100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52B0AC0-4254-4D9C-8AB2-E480B221FBEC}"/>
              </a:ext>
            </a:extLst>
          </p:cNvPr>
          <p:cNvSpPr>
            <a:spLocks noGrp="1"/>
          </p:cNvSpPr>
          <p:nvPr/>
        </p:nvSpPr>
        <p:spPr>
          <a:xfrm>
            <a:off x="933450" y="3924300"/>
            <a:ext cx="46101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Доля принятых жителями результатов. Пока это гипотезы.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4D738EA-5FA6-4B01-8D53-FB11B7592C37}"/>
              </a:ext>
            </a:extLst>
          </p:cNvPr>
          <p:cNvSpPr>
            <a:spLocks noGrp="1"/>
          </p:cNvSpPr>
          <p:nvPr/>
        </p:nvSpPr>
        <p:spPr>
          <a:xfrm>
            <a:off x="5905500" y="1981200"/>
            <a:ext cx="19050" cy="3657600"/>
          </a:xfrm>
          <a:prstGeom prst="rect">
            <a:avLst/>
          </a:prstGeom>
          <a:solidFill>
            <a:srgbClr val="DCD4F5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D80A6A8-8F76-4735-AE3C-3E397B83DD4C}"/>
              </a:ext>
            </a:extLst>
          </p:cNvPr>
          <p:cNvSpPr>
            <a:spLocks noGrp="1"/>
          </p:cNvSpPr>
          <p:nvPr/>
        </p:nvSpPr>
        <p:spPr>
          <a:xfrm>
            <a:off x="6372225" y="1981200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100" b="1">
                <a:solidFill>
                  <a:srgbClr val="471A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71AFF"/>
                </a:solidFill>
                <a:latin typeface="Arial"/>
                <a:ea typeface="Arial"/>
                <a:cs typeface="Arial"/>
              </a:rPr>
              <a:t>Этапы расширения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B80E7783-2DDC-4DE0-8242-B43045BF8D3F}"/>
              </a:ext>
            </a:extLst>
          </p:cNvPr>
          <p:cNvSpPr>
            <a:spLocks noGrp="1"/>
          </p:cNvSpPr>
          <p:nvPr/>
        </p:nvSpPr>
        <p:spPr>
          <a:xfrm>
            <a:off x="6372225" y="26574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5FE027B-9FF2-4FFF-82E8-EB0076FCCA3D}"/>
              </a:ext>
            </a:extLst>
          </p:cNvPr>
          <p:cNvSpPr>
            <a:spLocks noGrp="1"/>
          </p:cNvSpPr>
          <p:nvPr/>
        </p:nvSpPr>
        <p:spPr>
          <a:xfrm>
            <a:off x="6619875" y="2571750"/>
            <a:ext cx="45339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Один дом: проверить процесс с реальными участниками.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85936E10-44EB-4182-B298-E15B8F2047DD}"/>
              </a:ext>
            </a:extLst>
          </p:cNvPr>
          <p:cNvSpPr>
            <a:spLocks noGrp="1"/>
          </p:cNvSpPr>
          <p:nvPr/>
        </p:nvSpPr>
        <p:spPr>
          <a:xfrm>
            <a:off x="6372225" y="3352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4E91C48-1182-4BF9-A8BD-E7D51C11D382}"/>
              </a:ext>
            </a:extLst>
          </p:cNvPr>
          <p:cNvSpPr>
            <a:spLocks noGrp="1"/>
          </p:cNvSpPr>
          <p:nvPr/>
        </p:nvSpPr>
        <p:spPr>
          <a:xfrm>
            <a:off x="6619875" y="3267075"/>
            <a:ext cx="45339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Несколько домов одной УК: оценить нагрузку и повторяемость процесса.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16E8C990-1A9A-416E-98FC-7409D11739DF}"/>
              </a:ext>
            </a:extLst>
          </p:cNvPr>
          <p:cNvSpPr>
            <a:spLocks noGrp="1"/>
          </p:cNvSpPr>
          <p:nvPr/>
        </p:nvSpPr>
        <p:spPr>
          <a:xfrm>
            <a:off x="6372225" y="4048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471AFF"/>
          </a:solidFill>
          <a:ln w="0">
            <a:noFill/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45CDB06-8BC8-410F-A517-03FA0669EF5F}"/>
              </a:ext>
            </a:extLst>
          </p:cNvPr>
          <p:cNvSpPr>
            <a:spLocks noGrp="1"/>
          </p:cNvSpPr>
          <p:nvPr/>
        </p:nvSpPr>
        <p:spPr>
          <a:xfrm>
            <a:off x="6619875" y="3962400"/>
            <a:ext cx="45339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725" b="0">
                <a:solidFill>
                  <a:srgbClr val="0D001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D001A"/>
                </a:solidFill>
                <a:latin typeface="Arial"/>
                <a:ea typeface="Arial"/>
                <a:cs typeface="Arial"/>
              </a:rPr>
              <a:t>Другой город: проверить покрытие адресов и источников.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0D19965-6642-4BC1-BF29-599FE2321119}"/>
              </a:ext>
            </a:extLst>
          </p:cNvPr>
          <p:cNvSpPr>
            <a:spLocks noGrp="1"/>
          </p:cNvSpPr>
          <p:nvPr/>
        </p:nvSpPr>
        <p:spPr>
          <a:xfrm>
            <a:off x="685800" y="5638800"/>
            <a:ext cx="104013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1">
                <a:solidFill>
                  <a:srgbClr val="5B536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536D"/>
                </a:solidFill>
                <a:latin typeface="Arial"/>
                <a:ea typeface="Arial"/>
                <a:cs typeface="Arial"/>
              </a:rPr>
              <a:t>При переносе сохраняются сценарий и модель данных. Адаптируются адреса, правила, УК и права бота.</a:t>
            </a:r>
          </a:p>
        </p:txBody>
      </p:sp>
    </p:spTree>
    <p:extLst>
      <p:ext uri="{BB962C8B-B14F-4D97-AF65-F5344CB8AC3E}">
        <p14:creationId xmlns:p14="http://schemas.microsoft.com/office/powerpoint/2010/main" val="15523292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1431</Words>
  <Application>Microsoft Office PowerPoint</Application>
  <DocSecurity>0</DocSecurity>
  <PresentationFormat>Широкоэкранный</PresentationFormat>
  <Paragraphs>207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79824</cp:lastModifiedBy>
  <cp:revision>1</cp:revision>
  <dcterms:created xsi:type="dcterms:W3CDTF">2026-09-30T08:58:54Z</dcterms:created>
  <dcterms:modified xsi:type="dcterms:W3CDTF">2026-09-30T09:15:55Z</dcterms:modified>
</cp:coreProperties>
</file>