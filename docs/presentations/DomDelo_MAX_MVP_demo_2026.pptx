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4fcf77ff9d4547" /><Relationship Type="http://schemas.openxmlformats.org/officeDocument/2006/relationships/extended-properties" Target="/docProps/app.xml" Id="Raf1626efe60e4e98" /><Relationship Type="http://schemas.openxmlformats.org/officeDocument/2006/relationships/officeDocument" Target="/ppt/presentation.xml" Id="Rc984828f5ca348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ccd74b5d1240e0"/>
  </p:sldMasterIdLst>
  <p:notesMasterIdLst>
    <p:notesMasterId xmlns:r="http://schemas.openxmlformats.org/officeDocument/2006/relationships" r:id="R444a406f378e4d6d"/>
  </p:notesMasterIdLst>
  <p:sldIdLst>
    <p:sldId xmlns:r="http://schemas.openxmlformats.org/officeDocument/2006/relationships" id="256" r:id="Rbfb76a434f4a494a"/>
    <p:sldId xmlns:r="http://schemas.openxmlformats.org/officeDocument/2006/relationships" id="257" r:id="Rd17cd696aeb64cdd"/>
    <p:sldId xmlns:r="http://schemas.openxmlformats.org/officeDocument/2006/relationships" id="258" r:id="R326c8188083a4b1e"/>
    <p:sldId xmlns:r="http://schemas.openxmlformats.org/officeDocument/2006/relationships" id="259" r:id="R6752496cdb934621"/>
    <p:sldId xmlns:r="http://schemas.openxmlformats.org/officeDocument/2006/relationships" id="260" r:id="R5959b838beed465c"/>
    <p:sldId xmlns:r="http://schemas.openxmlformats.org/officeDocument/2006/relationships" id="261" r:id="R18ed1c11154f48d7"/>
    <p:sldId xmlns:r="http://schemas.openxmlformats.org/officeDocument/2006/relationships" id="262" r:id="R398c3b1d32e04acd"/>
    <p:sldId xmlns:r="http://schemas.openxmlformats.org/officeDocument/2006/relationships" id="263" r:id="Rdc332e42fb8b4901"/>
    <p:sldId xmlns:r="http://schemas.openxmlformats.org/officeDocument/2006/relationships" id="264" r:id="Rdf7352f52b1a4aae"/>
    <p:sldId xmlns:r="http://schemas.openxmlformats.org/officeDocument/2006/relationships" id="265" r:id="R655a349dc49f4aee"/>
    <p:sldId xmlns:r="http://schemas.openxmlformats.org/officeDocument/2006/relationships" id="266" r:id="R9cad12eb6ee4445f"/>
    <p:sldId xmlns:r="http://schemas.openxmlformats.org/officeDocument/2006/relationships" id="267" r:id="R70a4437673474fe3"/>
    <p:sldId xmlns:r="http://schemas.openxmlformats.org/officeDocument/2006/relationships" id="268" r:id="R1b1200429b9148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53ec05e8974709" /><Relationship Type="http://schemas.openxmlformats.org/officeDocument/2006/relationships/slideMaster" Target="/ppt/slideMasters/slideMaster1.xml" Id="R3eccd74b5d1240e0" /><Relationship Type="http://schemas.openxmlformats.org/officeDocument/2006/relationships/notesMaster" Target="/ppt/notesMasters/notesMaster1.xml" Id="R444a406f378e4d6d" /><Relationship Type="http://schemas.openxmlformats.org/officeDocument/2006/relationships/presProps" Target="/ppt/presProps.xml" Id="R664ef261c1174565" /><Relationship Type="http://schemas.openxmlformats.org/officeDocument/2006/relationships/tableStyles" Target="/ppt/tableStyles.xml" Id="R0a4a8f271a874622" /><Relationship Type="http://schemas.openxmlformats.org/officeDocument/2006/relationships/slide" Target="/ppt/slides/slide1.xml" Id="Rbfb76a434f4a494a" /><Relationship Type="http://schemas.openxmlformats.org/officeDocument/2006/relationships/slide" Target="/ppt/slides/slide2.xml" Id="Rd17cd696aeb64cdd" /><Relationship Type="http://schemas.openxmlformats.org/officeDocument/2006/relationships/slide" Target="/ppt/slides/slide3.xml" Id="R326c8188083a4b1e" /><Relationship Type="http://schemas.openxmlformats.org/officeDocument/2006/relationships/slide" Target="/ppt/slides/slide4.xml" Id="R6752496cdb934621" /><Relationship Type="http://schemas.openxmlformats.org/officeDocument/2006/relationships/slide" Target="/ppt/slides/slide5.xml" Id="R5959b838beed465c" /><Relationship Type="http://schemas.openxmlformats.org/officeDocument/2006/relationships/slide" Target="/ppt/slides/slide6.xml" Id="R18ed1c11154f48d7" /><Relationship Type="http://schemas.openxmlformats.org/officeDocument/2006/relationships/slide" Target="/ppt/slides/slide7.xml" Id="R398c3b1d32e04acd" /><Relationship Type="http://schemas.openxmlformats.org/officeDocument/2006/relationships/slide" Target="/ppt/slides/slide8.xml" Id="Rdc332e42fb8b4901" /><Relationship Type="http://schemas.openxmlformats.org/officeDocument/2006/relationships/slide" Target="/ppt/slides/slide9.xml" Id="Rdf7352f52b1a4aae" /><Relationship Type="http://schemas.openxmlformats.org/officeDocument/2006/relationships/slide" Target="/ppt/slides/slide10.xml" Id="R655a349dc49f4aee" /><Relationship Type="http://schemas.openxmlformats.org/officeDocument/2006/relationships/slide" Target="/ppt/slides/slide11.xml" Id="R9cad12eb6ee4445f" /><Relationship Type="http://schemas.openxmlformats.org/officeDocument/2006/relationships/slide" Target="/ppt/slides/slide12.xml" Id="R70a4437673474fe3" /><Relationship Type="http://schemas.openxmlformats.org/officeDocument/2006/relationships/slide" Target="/ppt/slides/slide13.xml" Id="R1b1200429b9148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ab523bd22745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91f3dda1d74612" /><Relationship Type="http://schemas.openxmlformats.org/officeDocument/2006/relationships/notesMaster" Target="/ppt/notesMasters/notesMaster1.xml" Id="R03ab9be91d224c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f860c4ded04559" /><Relationship Type="http://schemas.openxmlformats.org/officeDocument/2006/relationships/notesMaster" Target="/ppt/notesMasters/notesMaster1.xml" Id="Rd79b516903fc4e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fc9c86c3e94bba" /><Relationship Type="http://schemas.openxmlformats.org/officeDocument/2006/relationships/notesMaster" Target="/ppt/notesMasters/notesMaster1.xml" Id="Rf54d16672c3b42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89d912110b4a9a" /><Relationship Type="http://schemas.openxmlformats.org/officeDocument/2006/relationships/notesMaster" Target="/ppt/notesMasters/notesMaster1.xml" Id="R97361e666f114d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addae6c51c4cd8" /><Relationship Type="http://schemas.openxmlformats.org/officeDocument/2006/relationships/notesMaster" Target="/ppt/notesMasters/notesMaster1.xml" Id="Rfbc385b4613647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d5e054386b40c3" /><Relationship Type="http://schemas.openxmlformats.org/officeDocument/2006/relationships/notesMaster" Target="/ppt/notesMasters/notesMaster1.xml" Id="R0cc6f39ac13b4a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7f1d72cf854ce1" /><Relationship Type="http://schemas.openxmlformats.org/officeDocument/2006/relationships/notesMaster" Target="/ppt/notesMasters/notesMaster1.xml" Id="R73ea69350ce042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a6a18ff8964862" /><Relationship Type="http://schemas.openxmlformats.org/officeDocument/2006/relationships/notesMaster" Target="/ppt/notesMasters/notesMaster1.xml" Id="R3216f0dc906544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1bf289cf32431c" /><Relationship Type="http://schemas.openxmlformats.org/officeDocument/2006/relationships/notesMaster" Target="/ppt/notesMasters/notesMaster1.xml" Id="Rd9b06efcbc2845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ad202342a246f9" /><Relationship Type="http://schemas.openxmlformats.org/officeDocument/2006/relationships/notesMaster" Target="/ppt/notesMasters/notesMaster1.xml" Id="R9d3baef31a2546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b5b7fde313548b2" /><Relationship Type="http://schemas.openxmlformats.org/officeDocument/2006/relationships/notesMaster" Target="/ppt/notesMasters/notesMaster1.xml" Id="Rdd9c248ed67943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eaba3e0bda4d3e" /><Relationship Type="http://schemas.openxmlformats.org/officeDocument/2006/relationships/notesMaster" Target="/ppt/notesMasters/notesMaster1.xml" Id="R925541e631fa40b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fd995f4a2f34907" /><Relationship Type="http://schemas.openxmlformats.org/officeDocument/2006/relationships/notesMaster" Target="/ppt/notesMasters/notesMaster1.xml" Id="Ree3827d7e31f46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Редакционная версия для просмотра MVP. Содержание основано на предоставленной презентации. Публичные ссылки и доступность стенда не проверялись.</a:t>
            </a:r>
          </a:p>
          <a:p xmlns:a="http://schemas.openxmlformats.org/drawingml/2006/main">
            <a:r>
              <a:t>Исходный файл: DomDelo_MAX_umnyi_gorod_2026.pptx.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Редакционная версия для просмотра MVP. Содержание основано на предоставленной презентации. Публичные ссылки и доступность стенда не проверялись.</a:t>
            </a:r>
          </a:p>
          <a:p xmlns:a="http://schemas.openxmlformats.org/drawingml/2006/main">
            <a:r>
              <a:t>Исходный файл: DomDelo_MAX_umnyi_gorod_2026.pptx.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Редакционная версия для просмотра MVP. Содержание основано на предоставленной презентации. Публичные ссылки и доступность стенда не проверялись.</a:t>
            </a:r>
          </a:p>
          <a:p xmlns:a="http://schemas.openxmlformats.org/drawingml/2006/main">
            <a:r>
              <a:t>Исходный файл: DomDelo_MAX_umnyi_gorod_2026.pptx.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Редакционная версия для просмотра MVP. Содержание основано на предоставленной презентации. Публичные ссылки и доступность стенда не проверялись.</a:t>
            </a:r>
          </a:p>
          <a:p xmlns:a="http://schemas.openxmlformats.org/drawingml/2006/main">
            <a:r>
              <a:t>Исходный файл: DomDelo_MAX_umnyi_gorod_2026.pptx.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Редакционная версия для просмотра MVP. Содержание основано на предоставленной презентации. Публичные ссылки и доступность стенда не проверялись.</a:t>
            </a:r>
          </a:p>
          <a:p xmlns:a="http://schemas.openxmlformats.org/drawingml/2006/main">
            <a:r>
              <a:t>Исходный файл: DomDelo_MAX_umnyi_gorod_2026.pptx.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Редакционная версия для просмотра MVP. Содержание основано на предоставленной презентации. Публичные ссылки и доступность стенда не проверялись.</a:t>
            </a:r>
          </a:p>
          <a:p xmlns:a="http://schemas.openxmlformats.org/drawingml/2006/main">
            <a:r>
              <a:t>Исходный файл: DomDelo_MAX_umnyi_gorod_2026.pptx.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Редакционная версия для просмотра MVP. Содержание основано на предоставленной презентации. Публичные ссылки и доступность стенда не проверялись.</a:t>
            </a:r>
          </a:p>
          <a:p xmlns:a="http://schemas.openxmlformats.org/drawingml/2006/main">
            <a:r>
              <a:t>Исходный файл: DomDelo_MAX_umnyi_gorod_2026.pptx.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Редакционная версия для просмотра MVP. Содержание основано на предоставленной презентации. Публичные ссылки и доступность стенда не проверялись.</a:t>
            </a:r>
          </a:p>
          <a:p xmlns:a="http://schemas.openxmlformats.org/drawingml/2006/main">
            <a:r>
              <a:t>Исходный файл: DomDelo_MAX_umnyi_gorod_2026.pptx.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Редакционная версия для просмотра MVP. Содержание основано на предоставленной презентации. Публичные ссылки и доступность стенда не проверялись.</a:t>
            </a:r>
          </a:p>
          <a:p xmlns:a="http://schemas.openxmlformats.org/drawingml/2006/main">
            <a:r>
              <a:t>Исходный файл: DomDelo_MAX_umnyi_gorod_2026.pptx.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Редакционная версия для просмотра MVP. Содержание основано на предоставленной презентации. Публичные ссылки и доступность стенда не проверялись.</a:t>
            </a:r>
          </a:p>
          <a:p xmlns:a="http://schemas.openxmlformats.org/drawingml/2006/main">
            <a:r>
              <a:t>Исходный файл: DomDelo_MAX_umnyi_gorod_2026.pptx.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Редакционная версия для просмотра MVP. Содержание основано на предоставленной презентации. Публичные ссылки и доступность стенда не проверялись.</a:t>
            </a:r>
          </a:p>
          <a:p xmlns:a="http://schemas.openxmlformats.org/drawingml/2006/main">
            <a:r>
              <a:t>Исходный файл: DomDelo_MAX_umnyi_gorod_2026.pptx.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Редакционная версия для просмотра MVP. Содержание основано на предоставленной презентации. Публичные ссылки и доступность стенда не проверялись.</a:t>
            </a:r>
          </a:p>
          <a:p xmlns:a="http://schemas.openxmlformats.org/drawingml/2006/main">
            <a:r>
              <a:t>Исходный файл: DomDelo_MAX_umnyi_gorod_2026.pptx.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Редакционная версия для просмотра MVP. Содержание основано на предоставленной презентации. Публичные ссылки и доступность стенда не проверялись.</a:t>
            </a:r>
          </a:p>
          <a:p xmlns:a="http://schemas.openxmlformats.org/drawingml/2006/main">
            <a:r>
              <a:t>Исходный файл: DomDelo_MAX_umnyi_gorod_2026.pptx.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2293055e0541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cf06140927497f" /><Relationship Type="http://schemas.openxmlformats.org/officeDocument/2006/relationships/slideLayout" Target="/ppt/slideLayouts/slideLayout1.xml" Id="R291e6bb1f90f4a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1e6bb1f90f4a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db3bae83a4c91" /><Relationship Type="http://schemas.openxmlformats.org/officeDocument/2006/relationships/notesSlide" Target="/ppt/notesSlides/notesSlide1.xml" Id="Rfd375d50e25b43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f1ae3839f4f8e" /><Relationship Type="http://schemas.openxmlformats.org/officeDocument/2006/relationships/notesSlide" Target="/ppt/notesSlides/notesSlide2.xml" Id="R2f3bde429ab843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423e672b34e28" /><Relationship Type="http://schemas.openxmlformats.org/officeDocument/2006/relationships/notesSlide" Target="/ppt/notesSlides/notesSlide3.xml" Id="R861d3c2dd08840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5bacb285d42f5" /><Relationship Type="http://schemas.openxmlformats.org/officeDocument/2006/relationships/notesSlide" Target="/ppt/notesSlides/notesSlide4.xml" Id="R0c8b0ecb4c7f44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cc68a21aa46f9" /><Relationship Type="http://schemas.openxmlformats.org/officeDocument/2006/relationships/notesSlide" Target="/ppt/notesSlides/notesSlide5.xml" Id="Rb308e6fb528540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4dabcba114aeb" /><Relationship Type="http://schemas.openxmlformats.org/officeDocument/2006/relationships/notesSlide" Target="/ppt/notesSlides/notesSlide6.xml" Id="Rf6994b0f002545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94dd772b44fb7" /><Relationship Type="http://schemas.openxmlformats.org/officeDocument/2006/relationships/notesSlide" Target="/ppt/notesSlides/notesSlide7.xml" Id="Re24ff6bcad084f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d81b0bff44cca" /><Relationship Type="http://schemas.openxmlformats.org/officeDocument/2006/relationships/notesSlide" Target="/ppt/notesSlides/notesSlide8.xml" Id="R11a1f289583f41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448fd088e4ff1" /><Relationship Type="http://schemas.openxmlformats.org/officeDocument/2006/relationships/notesSlide" Target="/ppt/notesSlides/notesSlide9.xml" Id="R4ebf6cc05bc544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9f52e629443ad" /><Relationship Type="http://schemas.openxmlformats.org/officeDocument/2006/relationships/notesSlide" Target="/ppt/notesSlides/notesSlide10.xml" Id="R79fa1c42a69244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f705eefff4c11" /><Relationship Type="http://schemas.openxmlformats.org/officeDocument/2006/relationships/notesSlide" Target="/ppt/notesSlides/notesSlide11.xml" Id="R2c4a9e9fffa348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5f07c04144a08" /><Relationship Type="http://schemas.openxmlformats.org/officeDocument/2006/relationships/notesSlide" Target="/ppt/notesSlides/notesSlide12.xml" Id="R7ba904c5afa94a0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bd368e1204373" /><Relationship Type="http://schemas.openxmlformats.org/officeDocument/2006/relationships/notesSlide" Target="/ppt/notesSlides/notesSlide13.xml" Id="Re9ea4a1097f84f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79EF61-9DE8-46C2-A273-1C3CA6A0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1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C0FD9-C8F6-4CFA-ADEB-9F4CC2C7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ТЕХНИЧЕСКАЯ ИНФОРМАЦИЯ · НЕ ОЦЕНИВАЕТСЯ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91ACC-4599-4CB4-AE9B-4CC3078A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Деморежим для просмотра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CD723-2D30-476F-9554-5F813004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858B0-4A16-4468-BB37-ACED62F5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04975"/>
            <a:ext cx="471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Доступ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83FA9-AC0F-4448-8AA7-7894333A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Бот и Mini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7D2C31-D17A-4402-9928-6BB53DC9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https://max.ru/t524_hakaton_max_bot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1BE2F-1A80-41ED-BAC0-CBFF2F9B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Демонстрационный стенд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D5347-7607-4066-9007-54D86391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https://domdelo-max.onrender.com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6E015B-7CAD-4C69-B200-4E3EA8A2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Репозиторий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EBF4E7-7F0E-42CB-B42C-F68113A9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71925"/>
            <a:ext cx="4857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https://github.com/Larenak/DomDeloBot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FAB8A6-C540-443B-98CD-3ADF7506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33875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commit 96063ca69cd0f2e1f8bff029ee2dafeaa833e373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049ABB-65B3-41F4-9D4C-F2C34AAC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752600"/>
            <a:ext cx="6019800" cy="3448050"/>
          </a:xfrm>
          <a:prstGeom xmlns:a="http://schemas.openxmlformats.org/drawingml/2006/main" prst="roundRect">
            <a:avLst>
              <a:gd name="adj" fmla="val 44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4F5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B3F992-7A37-4591-8D15-88BACE18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962150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Как войти и посмотреть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089E7E-F979-4F10-8CB2-5A4DBB52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003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1   /start, «Демо-режим», затем роль «Житель».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0E9F38-A8BB-4003-B78D-2DE575D9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194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2   В Mini App нажмите «Показать сценарий».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BE7663-A1A6-4EC2-967B-027BE950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385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3   Создайте дело и соберите подтверждения.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46E4F7-5C14-4EE4-88CA-3E43889F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6576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4   Роль «Диспетчер УК»: назначьте работу.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617B9D-EC6A-48CA-A8EB-4E9D54ED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076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5   Роль «Исполнитель»: покажите результат.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559645-E4E2-4A81-B54D-ED307643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4958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6   Роль «Житель»: примите или оспорьте итог.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D29744-155B-43E1-89F8-8EE798F7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Назначение деморежима: просмотр возможностей MVP на тестовых данных. Демо-роли не дают полномочий в настоящем доме.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DB2CE1-367B-40A6-8170-A3084E31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Демо без пароля. OpenAPI: /docs. Секреты для запуска передаются организаторам отдельно защищённым способом.</a:t>
            </a:r>
          </a:p>
        </p:txBody>
      </p:sp>
    </p:spTree>
    <p:extLst>
      <p:ext uri="{BB962C8B-B14F-4D97-AF65-F5344CB8AC3E}">
        <p14:creationId xmlns:p14="http://schemas.microsoft.com/office/powerpoint/2010/main" val="89537987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471AFF"/>
            </a:gs>
            <a:gs pos="100000">
              <a:srgbClr val="9500FF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E0E62-7608-49B2-9D58-EFB4A456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476375" cy="371475"/>
          </a:xfrm>
          <a:prstGeom xmlns:a="http://schemas.openxmlformats.org/drawingml/2006/main" prst="roundRect">
            <a:avLst>
              <a:gd name="adj" fmla="val 487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438794-2F05-4B31-919A-5692D92F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7239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УМНЫЙ ГОРОД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B24150-A317-425B-95CF-AED264B9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85900"/>
            <a:ext cx="981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ДомДело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0D07B-ABE1-44C1-992E-F17683DE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57500"/>
            <a:ext cx="1019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Помощник по вопросам дома в MAX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51806-01AC-496B-9E13-2E40061E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64820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003707-ABC0-4ED6-871F-04E7B838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1019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Деморежим для просмотра MVP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Тестовые данные и переключаемые роли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8D868-451E-446C-9F2A-3AF8EDE5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096000"/>
            <a:ext cx="1064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Гасанов Гейдар Газанфар оглы · Каменских Александр Владимирович · Габриелян Григорий Артурович</a:t>
            </a:r>
          </a:p>
        </p:txBody>
      </p:sp>
    </p:spTree>
    <p:extLst>
      <p:ext uri="{BB962C8B-B14F-4D97-AF65-F5344CB8AC3E}">
        <p14:creationId xmlns:p14="http://schemas.microsoft.com/office/powerpoint/2010/main" val="11714291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9A6A28-FAF1-4D15-8BF5-40FC2653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1A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C15D7-7B02-449D-9CE5-EC31B3C9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РЕЗЮМЕ ПРОЕКТА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CA6BA-B360-4A9D-B7C2-B9271C38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15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Приоритетный пользователь и ценность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5FC8D-6AD0-4298-9712-90185229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33525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536D"/>
                </a:solidFill>
                <a:latin typeface="Arial"/>
                <a:ea typeface="Arial"/>
                <a:cs typeface="Arial"/>
              </a:rPr>
              <a:t>ДомДело связывает жителей и обслуживающую организацию через общую карточку дела.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EC6A3-522F-4424-9A76-539F078A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4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16E4E-3845-4769-95DB-9F9B18FF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ДОМДЕЛО  ×  MAX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965FE8-0D21-47C0-9EC5-0FBA2C19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8C4DF3-34D0-489B-9D18-848757C6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335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6179AC-E822-4F74-97C2-0E16DE5D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9896C-825C-42C5-AE44-56DC0353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321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Приоритет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53E770-FAE0-4C69-BD13-D1B42329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3219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Житель МКД с неисправностью общего имущества: освещения, двери или лифта.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F25A41-B77B-44D9-B95D-247C3FBF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00300"/>
            <a:ext cx="335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6185FD-D756-4DA7-84F4-BFF98493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0990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4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8BF7A-7085-490D-8CFF-BDFB95FF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81350"/>
            <a:ext cx="321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Рабочие участники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B9C886-CAA8-4B0D-9846-794BD979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86200"/>
            <a:ext cx="3219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536D"/>
                </a:solidFill>
                <a:latin typeface="Arial"/>
                <a:ea typeface="Arial"/>
                <a:cs typeface="Arial"/>
              </a:rPr>
              <a:t>Диспетчер и исполнитель одной УК, которые обслуживают этот дом.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7D354B-0D28-42D1-9491-1B31B8C0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00300"/>
            <a:ext cx="335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99C0FB-918E-43AB-A2BB-32CFBC2C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D37CC2-FEC9-4A3B-986E-D82F6379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81350"/>
            <a:ext cx="321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Выбор сегмента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8268D6-1E04-45D1-A32E-04D90337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86200"/>
            <a:ext cx="3219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Одну неисправность замечают несколько соседей. Её удобно решать совместно.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78BDDE-76E3-4AEE-83A6-49E1CC15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75"/>
            <a:ext cx="10763250" cy="581025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019F46-17BC-4D8E-BA53-7A4DDEE8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72100"/>
            <a:ext cx="10382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Гипотеза ценности: общая карточка уменьшает повторные обращения и помогает увидеть ответственность за решение.</a:t>
            </a:r>
          </a:p>
        </p:txBody>
      </p:sp>
    </p:spTree>
    <p:extLst>
      <p:ext uri="{BB962C8B-B14F-4D97-AF65-F5344CB8AC3E}">
        <p14:creationId xmlns:p14="http://schemas.microsoft.com/office/powerpoint/2010/main" val="19943097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369EA4-CC98-4ADC-A8D6-6E93DB16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1A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76FF0-F625-4099-AEF2-3AC7F955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ТЕХНИЧЕСКАЯ ИНФОРМАЦИЯ · НЕ ОЦЕНИВАЕТСЯ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328FF4-091D-40AF-A219-84C494E3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15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Почему обращения теряются в чате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A6346-67C5-4006-9464-F9EB72BF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A68C3-A5EB-45E8-AD4C-1CB37A2B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ДОМДЕЛО  ×  MAX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4594C-4189-4A51-B815-9DA91DC3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1F7C54-2D3C-4E49-B9A1-5BE44206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4600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Для жителя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67CDA1-C2C1-442D-95BE-A90C678B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45720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Сообщение уходит в историю переписки. Непонятно, кто отвечает за проблему и когда ждать решения.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29CBD-F159-4287-B086-8CB86539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990725"/>
            <a:ext cx="190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EAD05-673B-418C-8679-FD999226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943100"/>
            <a:ext cx="4886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Для управляющей компании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A12FE7-BC56-460B-8989-0518FE2B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495550"/>
            <a:ext cx="4848225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Повторные сообщения дробят одну проблему на несколько обращений. Приоритеты и загрузку трудно оценить.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A7F3F1-1A5E-4D0A-B4E7-2B17AE7C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76825"/>
            <a:ext cx="10439400" cy="695325"/>
          </a:xfrm>
          <a:prstGeom xmlns:a="http://schemas.openxmlformats.org/drawingml/2006/main" prst="roundRect">
            <a:avLst>
              <a:gd name="adj" fmla="val 17808"/>
            </a:avLst>
          </a:prstGeom>
          <a:solidFill xmlns:a="http://schemas.openxmlformats.org/drawingml/2006/main">
            <a:srgbClr val="0D0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AE26B2-2A16-49C7-8FAE-C6C46EA1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0175"/>
            <a:ext cx="998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Основание: бриф «Умный город», с. 16. Частоту и масштаб этих ситуаций предстоит проверить в пилоте.</a:t>
            </a:r>
          </a:p>
        </p:txBody>
      </p:sp>
    </p:spTree>
    <p:extLst>
      <p:ext uri="{BB962C8B-B14F-4D97-AF65-F5344CB8AC3E}">
        <p14:creationId xmlns:p14="http://schemas.microsoft.com/office/powerpoint/2010/main" val="13379071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7B9860-CA30-4C91-822E-E11E0D5B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1A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DB3E1-EF11-4C51-B248-E966A33F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ТЕХНИЧЕСКАЯ ИНФОРМАЦИЯ · НЕ ОЦЕНИВАЕТСЯ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579719-D0CB-4956-814F-741D487A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15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Сценарий обработки одного дела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C6640-615B-4FA9-8CB1-C2FA6765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1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06B83-2237-4A21-9D6E-E988E529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ДОМДЕЛО  ×  MAX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C8BC2-48B1-43E8-9EAD-67B4FEDD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C9EF7-B88E-4DE8-BF39-6B4B6944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152650"/>
            <a:ext cx="213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66A95-47F8-47CA-921F-F852C6BA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76225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4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B35EF1-B2C5-4850-8259-018FDDE2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93370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Житель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DA4E23-10B8-455A-BFCB-16FC60E1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638550"/>
            <a:ext cx="2000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Описывает проблему, выбирает категорию и прикладывает фото.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E8AD65-C0D9-4BBF-8690-5C23245A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152650"/>
            <a:ext cx="213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576FC9-3351-4167-96CC-3A02BB19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76225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866235-6741-4DD8-86E3-FBA9456C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93370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Соседи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3326F9-E382-41AE-A9AD-291B433C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638550"/>
            <a:ext cx="2000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536D"/>
                </a:solidFill>
                <a:latin typeface="Arial"/>
                <a:ea typeface="Arial"/>
                <a:cs typeface="Arial"/>
              </a:rPr>
              <a:t>Подтверждают общее дело. Порог подтверждений открывает очередь УК.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43892E-931B-4FC6-ABD9-4F3B9F27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152650"/>
            <a:ext cx="213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BFBF78-9493-4126-8BC1-5D73DCAC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76225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4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C9087F-648A-4E08-AE4A-6E755847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93370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Диспетчер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4D7B88-A9C5-4CAB-A802-43203630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638550"/>
            <a:ext cx="2000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536D"/>
                </a:solidFill>
                <a:latin typeface="Arial"/>
                <a:ea typeface="Arial"/>
                <a:cs typeface="Arial"/>
              </a:rPr>
              <a:t>Назначает исполнителя и плановую дату.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DBF46A-236D-43EF-981F-F53C6F2E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52650"/>
            <a:ext cx="213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287584-BA6C-44C2-8D67-A0C6D0C5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6225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608040-B8CC-4717-80E6-F8531922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93370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Исполнитель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FE1494-4C1B-4F3F-814F-E06C67E5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638550"/>
            <a:ext cx="2000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Отмечает ход работы и добавляет фото результата.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9E3D53-CDF0-43CA-8741-7629B038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152650"/>
            <a:ext cx="213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EB1CEF-8FE0-4C55-94CD-2F590FF1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76225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4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D28489-B72A-464D-BDDB-0DD5F7C8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93370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Приёмка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C67284-843A-4E53-A73C-E60DEF31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638550"/>
            <a:ext cx="2000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536D"/>
                </a:solidFill>
                <a:latin typeface="Arial"/>
                <a:ea typeface="Arial"/>
                <a:cs typeface="Arial"/>
              </a:rPr>
              <a:t>Житель подтверждает устранение или оспаривает результат.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B359FD-F2C9-4F3B-A756-E2372423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В демо используются учебные фото и внутренняя очередь. Оспоренный результат возвращается в работу.</a:t>
            </a:r>
          </a:p>
        </p:txBody>
      </p:sp>
    </p:spTree>
    <p:extLst>
      <p:ext uri="{BB962C8B-B14F-4D97-AF65-F5344CB8AC3E}">
        <p14:creationId xmlns:p14="http://schemas.microsoft.com/office/powerpoint/2010/main" val="16696073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205DBA-B994-4763-BE0D-64D2A2F6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1A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FF469-399B-454F-81AE-C6523F48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ИНСТРУМЕНТЫ ЖИТЕЛЯ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92B30-923A-4A3C-9A1D-F961E651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15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Навигация и личное наблюдение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F6E8B-BEAD-479A-98E7-9504DE12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D6F7A-63A9-4BD5-9C85-84812890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ДОМДЕЛО  ×  MAX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CE21B-AEE4-490A-A152-8FF4852D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ECD4E-40F9-4F2F-A41C-4CC2363A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810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335C0-2D16-4671-BCE7-DAAEE59F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Мои дома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C5648-70D0-4A56-A255-718E4CEB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145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B536D"/>
                </a:solidFill>
                <a:latin typeface="Arial"/>
                <a:ea typeface="Arial"/>
                <a:cs typeface="Arial"/>
              </a:rPr>
              <a:t>Выбор активного дома в профиле, добавление и удаление адресов.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679274-E399-4DE2-BFAD-6193F218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4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7136D0-1F2B-4AA7-998F-B842026B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5810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067149-D7FC-43B4-9491-2FA0EA2F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861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Отслеживание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A6F365-D097-4512-B54B-20BD5ED7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67075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B536D"/>
                </a:solidFill>
                <a:latin typeface="Arial"/>
                <a:ea typeface="Arial"/>
                <a:cs typeface="Arial"/>
              </a:rPr>
              <a:t>Избранные дела закрепляются над общим списком. Автор автоматически следит за своим делом.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A80D7F-4B0F-43B4-B217-938D0116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5553F1-4682-4D94-837D-234BB949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5810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1DB213-B677-49F3-9DE1-4AA3209E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386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Черновик обращения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698829-1892-46D1-9FD7-71AB4B37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41960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B536D"/>
                </a:solidFill>
                <a:latin typeface="Arial"/>
                <a:ea typeface="Arial"/>
                <a:cs typeface="Arial"/>
              </a:rPr>
              <a:t>Текст по делу можно скопировать или скачать для самостоятельной отправки.</a:t>
            </a:r>
          </a:p>
        </p:txBody>
      </p:sp>
    </p:spTree>
    <p:extLst>
      <p:ext uri="{BB962C8B-B14F-4D97-AF65-F5344CB8AC3E}">
        <p14:creationId xmlns:p14="http://schemas.microsoft.com/office/powerpoint/2010/main" val="17592825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B74438-4301-4CA7-AC28-02E94C6A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1A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EA730-8063-4BB3-9CF7-ED75F601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ОБЩИЕ ВОПРОСЫ ДОМА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A9018-F0A0-4143-A430-6E18A9F7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15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Опросы и сводка по дому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3E0F1-8CC2-403C-AB2F-12DCA422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33436-24AA-4A40-909B-DC3ECCC3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ДОМДЕЛО  ×  MAX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DB3FE-F34D-4B62-B19D-5261923A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62BEC2-BFD2-4876-9226-550A9F68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Председатель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B049A9-A98D-4F84-9100-DEF907F1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4667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Председатель создаёт опрос с вариантами ответа и датой завершения. Житель выбирает один вариант и видит итог.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31CD3-701C-44AB-AA5F-784677F7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90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7DAB38-B6FD-4FEF-9E11-F01C3CAB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095500"/>
            <a:ext cx="49053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Представитель муниципалитета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A901F6-4F41-4ADD-8E58-FB4DD062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981325"/>
            <a:ext cx="490537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Представитель муниципалитета просматривает агрегаты: число дел, категории, подтверждения и просроченные прогнозы.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04F1FB-B118-4410-A38F-C065B84F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4775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55603F-3DC4-49E2-B303-6C8A26F5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100869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Опрос служит предварительному обсуждению. Юридическую силу собрания собственников он не имеет.</a:t>
            </a:r>
          </a:p>
        </p:txBody>
      </p:sp>
    </p:spTree>
    <p:extLst>
      <p:ext uri="{BB962C8B-B14F-4D97-AF65-F5344CB8AC3E}">
        <p14:creationId xmlns:p14="http://schemas.microsoft.com/office/powerpoint/2010/main" val="7931800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3582A1-2DD6-4C4C-A5A7-9720F939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1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5B440-172F-438B-8EB2-225B9227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ТЕХНИЧЕСКАЯ ИНФОРМАЦИЯ · НЕ ОЦЕНИВАЕТСЯ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EDB6A-3840-4F6D-A337-E066E663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15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Источники сведений о доме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E07E00-E5A0-41B4-8546-14B9C70E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3EFB4-8092-41EF-A57B-8178AEF0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ДОМДЕЛО  ×  MAX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ACA65-0365-466E-82CE-38178D37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894E31-8D92-411C-83CB-A4D6DE58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33600"/>
            <a:ext cx="35718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Адрес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5638CB-34E9-4D5A-B90D-9E503340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133600"/>
            <a:ext cx="6638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Подсказки DaData с кодом ГАР; сервер повторно сверяет выбранный дом.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98F08-40F1-41D6-AD74-1C01638F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86100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FFD215-1DEA-4BB0-8840-DD2A9A42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67075"/>
            <a:ext cx="35718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Управляющая организация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D2DE1-BC06-47D4-975A-EBB66D55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267075"/>
            <a:ext cx="6638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Открытый датированный срез сведений ГИС ЖКХ в обработке «Если быть точным».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C8579A-E807-4B4F-AEBD-887B15F0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19575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27818F-82B6-4EE3-8DAE-ACC14DE3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00550"/>
            <a:ext cx="35718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Капитальный ремонт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565A0-D9B7-4E32-BE78-9C0DE3C0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400550"/>
            <a:ext cx="6638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Выгрузки ФРТ: программа, работы, сроки и источники при наличии записи.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F2439A-BB1D-480F-A0E8-97A249DB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29275"/>
            <a:ext cx="10429875" cy="466725"/>
          </a:xfrm>
          <a:prstGeom xmlns:a="http://schemas.openxmlformats.org/drawingml/2006/main" prst="roundRect">
            <a:avLst>
              <a:gd name="adj" fmla="val 20408"/>
            </a:avLst>
          </a:prstGeom>
          <a:solidFill xmlns:a="http://schemas.openxmlformats.org/drawingml/2006/main">
            <a:srgbClr val="0D0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07BEAE-46C0-4BCB-8B82-129B0330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95950"/>
            <a:ext cx="10039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Дата среза важна: сведения могут устареть. Отсутствие записи и недоступность источника видны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7085565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A6E702-28F1-4F2B-AF75-793970E6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1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F0446-2399-4F29-AC66-7D298FFB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ТЕХНИЧЕСКАЯ ИНФОРМАЦИЯ · НЕ ОЦЕНИВАЕТСЯ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FD1F80-8B3F-4FE8-A414-954FF79D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15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Роль каждого канала в MAX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97DB2-2F28-4AFD-B69D-5749096F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1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0F77A-178F-413A-AD91-45486578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ДОМДЕЛО  ×  MAX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57886-4A40-4755-BFE3-8992D334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1594D-DB16-4391-B45F-710E76A0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95525"/>
            <a:ext cx="3343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14BA1-0433-4A1E-83D2-E73A4B1E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32289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4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068D42-FDEF-4FB4-930E-B0E3AC1E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3209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Бот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3FFF3-9B38-4C1D-B040-32237F0E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32099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Быстрый вход и короткие действия в диалоге.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601DA-D835-4C1F-8B55-C044B02A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95525"/>
            <a:ext cx="3343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A9226-0910-49DD-8727-54AE0B61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05125"/>
            <a:ext cx="32289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BFFEA7-863B-408C-AB4F-E8C583F2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76575"/>
            <a:ext cx="3209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Mini App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FA4AB4-5FA1-4FEA-980F-A5515AE5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81425"/>
            <a:ext cx="32099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536D"/>
                </a:solidFill>
                <a:latin typeface="Arial"/>
                <a:ea typeface="Arial"/>
                <a:cs typeface="Arial"/>
              </a:rPr>
              <a:t>Подробный интерфейс для просмотра и работы с данными.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5BCC40-3D6D-4A16-8CE8-343C3BAD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95525"/>
            <a:ext cx="3343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18084B-1592-46AD-8839-08A86C15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05125"/>
            <a:ext cx="32289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4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5145B3-00CB-45A8-BC57-A4AECA3B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76575"/>
            <a:ext cx="3209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Домовой чат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C0F33C-4715-4586-9BD3-5F203362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81425"/>
            <a:ext cx="32099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536D"/>
                </a:solidFill>
                <a:latin typeface="Arial"/>
                <a:ea typeface="Arial"/>
                <a:cs typeface="Arial"/>
              </a:rPr>
              <a:t>Общие уведомления о событиях своего дома.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3DA917-9435-43D7-8DBB-423BD0F1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Публикации в группу требуют подтверждённой привязки чата к конкретному дому.</a:t>
            </a:r>
          </a:p>
        </p:txBody>
      </p:sp>
    </p:spTree>
    <p:extLst>
      <p:ext uri="{BB962C8B-B14F-4D97-AF65-F5344CB8AC3E}">
        <p14:creationId xmlns:p14="http://schemas.microsoft.com/office/powerpoint/2010/main" val="4039908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D75727-8631-4E40-8634-874F9C11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1A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FC42CE-F364-4D16-BF61-510CA5B6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ТЕХНИЧЕСКАЯ ИНФОРМАЦИЯ · НЕ ОЦЕНИВАЕТСЯ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FCE25-31F0-4FF6-80CF-0A4DEF6C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15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Контрольные даты и фактическое время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6AB8C-FE52-4BBD-AAD4-A3616933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82523-3DD7-4F92-BED4-F9F1DE55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ДОМДЕЛО  ×  MAX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84557-3D6C-4E66-8791-2C270EB0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8A05D8-9E66-4DA0-A43F-05EAD5F0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4752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Категории с контрольной датой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0D8969-995E-4D34-8FA9-D3A6FF2A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46577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Освещение, подъезд и двери, лифт, вода, отопление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EA38D0-3621-4B32-ABC7-20FF3408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714875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536D"/>
                </a:solidFill>
                <a:latin typeface="Arial"/>
                <a:ea typeface="Arial"/>
                <a:cs typeface="Arial"/>
              </a:rPr>
              <a:t>Правило показано в карточке вместе с источником и оговоркой о применимости. Отсчёт начинается при передаче дела в рабочую очередь УК.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7D37F-9A18-45CB-8F17-1EA0F9CD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57400"/>
            <a:ext cx="190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4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9EBC90-A1C9-4150-8DE1-39971CC9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49149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Без единого нормативного срока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22292-1750-4A7F-8710-A53BF950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95600"/>
            <a:ext cx="48387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«Двор» и «Другое»: видно фактическое время в работе без обещания юридического срока.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81F678-B939-472A-9074-5DE3F021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24350"/>
            <a:ext cx="48387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Если контрольная дата прошла, появляется ссылка на инструкцию ГИС ЖКХ для самостоятельной подачи обращения.</a:t>
            </a:r>
          </a:p>
        </p:txBody>
      </p:sp>
    </p:spTree>
    <p:extLst>
      <p:ext uri="{BB962C8B-B14F-4D97-AF65-F5344CB8AC3E}">
        <p14:creationId xmlns:p14="http://schemas.microsoft.com/office/powerpoint/2010/main" val="2811774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609193-94D3-43B0-8C21-62A7A6A1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1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49E12-7A29-4941-A6C2-7957EC90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ТЕХНИЧЕСКАЯ ИНФОРМАЦИЯ · НЕ ОЦЕНИВАЕТСЯ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9C6B3-3A54-48FC-BCCE-80D7CB19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15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Архитектура и устойчивость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1F1BD-9FBA-40C7-8DAE-F2E88D4F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19EE0-AA54-49E6-BEAE-183A69A0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ДОМДЕЛО  ×  MAX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31A5D-BB9F-44F4-A6BD-E84F6FFF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C7D80-CA60-4219-BE83-FC909AFA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181225"/>
            <a:ext cx="1924050" cy="1228725"/>
          </a:xfrm>
          <a:prstGeom xmlns:a="http://schemas.openxmlformats.org/drawingml/2006/main" prst="roundRect">
            <a:avLst>
              <a:gd name="adj" fmla="val 10078"/>
            </a:avLst>
          </a:prstGeom>
          <a:solidFill xmlns:a="http://schemas.openxmlformats.org/drawingml/2006/main">
            <a:srgbClr val="F7F5FF"/>
          </a:solidFill>
          <a:ln xmlns:a="http://schemas.openxmlformats.org/drawingml/2006/main" w="9525">
            <a:solidFill>
              <a:srgbClr val="DCD4F5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D49962-4ADD-48A0-B8A4-963031BA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24100"/>
            <a:ext cx="1619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MAX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CFA74E-3E60-464D-AE32-9BA86673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765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536D"/>
                </a:solidFill>
                <a:latin typeface="Arial"/>
                <a:ea typeface="Arial"/>
                <a:cs typeface="Arial"/>
              </a:rPr>
              <a:t>бот + Mini App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7D89C-BB81-4513-9DC9-DD9CBAAF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81225"/>
            <a:ext cx="2143125" cy="1228725"/>
          </a:xfrm>
          <a:prstGeom xmlns:a="http://schemas.openxmlformats.org/drawingml/2006/main" prst="roundRect">
            <a:avLst>
              <a:gd name="adj" fmla="val 10078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DCD4F5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8EF32-9D30-4466-AF0B-BECEB261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24100"/>
            <a:ext cx="18383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Fastify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4618B3-95FC-43E1-BE4F-A1C9CD0F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76550"/>
            <a:ext cx="1838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536D"/>
                </a:solidFill>
                <a:latin typeface="Arial"/>
                <a:ea typeface="Arial"/>
                <a:cs typeface="Arial"/>
              </a:rPr>
              <a:t>auth · cases · polls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FDAEC3-99F8-447B-BE0A-9624DC0C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81225"/>
            <a:ext cx="2085975" cy="1228725"/>
          </a:xfrm>
          <a:prstGeom xmlns:a="http://schemas.openxmlformats.org/drawingml/2006/main" prst="roundRect">
            <a:avLst>
              <a:gd name="adj" fmla="val 10078"/>
            </a:avLst>
          </a:prstGeom>
          <a:solidFill xmlns:a="http://schemas.openxmlformats.org/drawingml/2006/main">
            <a:srgbClr val="F7F5FF"/>
          </a:solidFill>
          <a:ln xmlns:a="http://schemas.openxmlformats.org/drawingml/2006/main" w="9525">
            <a:solidFill>
              <a:srgbClr val="DCD4F5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C500A8-9FCC-4836-B3F8-D469BF88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24100"/>
            <a:ext cx="17811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8C3C9C-E79B-4FAB-8A31-83E0775E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76550"/>
            <a:ext cx="1781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536D"/>
                </a:solidFill>
                <a:latin typeface="Arial"/>
                <a:ea typeface="Arial"/>
                <a:cs typeface="Arial"/>
              </a:rPr>
              <a:t>дела · роли · история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CD3941-6D47-4658-9CD4-0B8B8713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81225"/>
            <a:ext cx="2838450" cy="1228725"/>
          </a:xfrm>
          <a:prstGeom xmlns:a="http://schemas.openxmlformats.org/drawingml/2006/main" prst="roundRect">
            <a:avLst>
              <a:gd name="adj" fmla="val 10078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DCD4F5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9AE728-166F-4A62-88B0-85EADD00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25336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Outbox + MAX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FFD84B-91DB-4DD0-B35C-473D41B4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253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536D"/>
                </a:solidFill>
                <a:latin typeface="Arial"/>
                <a:ea typeface="Arial"/>
                <a:cs typeface="Arial"/>
              </a:rPr>
              <a:t>очередь уведомлений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51CF20-05F4-4347-BEDF-C19DBC89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95550"/>
            <a:ext cx="26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3B9A34-8F0D-43AF-887D-0D4C1CF4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95550"/>
            <a:ext cx="26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5DE4BC-D6DE-4475-9D2D-60D73FDD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95550"/>
            <a:ext cx="26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0155D1-A925-43DE-9AAC-4D388109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1042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Защита и устойчивость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EB4E0A-8CA5-46FC-BA04-06D992F3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434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1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96F0A7-354C-484E-92B6-F0300561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457700"/>
            <a:ext cx="1014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Сервер проверяет подпись MAX и права пользователя. Секреты хранятся в окружении.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A4EC01-06C8-46CA-A242-C501CC53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38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1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3B86D8-C383-4432-89B8-54E2C304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953000"/>
            <a:ext cx="101441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Повторный webhook не создаёт дубль. Конфликт версии возвращает явную ошибку.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277D64-4ACC-4268-924B-97F074BA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638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1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8B0103-4EC7-4599-85CF-451AC29C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553075"/>
            <a:ext cx="101441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Объектное хранилище содержит фото. Изменение статуса, история и уведомление согласованы.</a:t>
            </a:r>
          </a:p>
        </p:txBody>
      </p:sp>
    </p:spTree>
    <p:extLst>
      <p:ext uri="{BB962C8B-B14F-4D97-AF65-F5344CB8AC3E}">
        <p14:creationId xmlns:p14="http://schemas.microsoft.com/office/powerpoint/2010/main" val="15290600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9DED33-BED2-46DB-B414-136028D7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1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816C0-3628-4284-B36E-F6748E5F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УСЛОВИЯ ВНЕДРЕНИЯ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F0161-E484-42FB-A40F-459FF0F9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15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Доступ, интеграции и риски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95823-9317-450B-A976-399995C1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E9870-6522-48D4-AE06-49642C5B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ДОМДЕЛО  ×  MAX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B9201-09F2-4415-A845-713DEBB6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CB30D-3248-4CCB-A1FB-13DBC897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6692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Официальная подача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587AC-F4E4-4B12-B164-3C1E1046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66925"/>
            <a:ext cx="74199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Обращение в УК или ГИС ЖКХ пользователь отправляет самостоятельно. Автоматической интеграции в MVP нет.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7438B-A964-4E88-A0C4-13304723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3370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0F738-ED75-4997-8DB7-3ADA506F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7182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Участники и права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C97A16-90C8-4DF9-81E4-87FDE3E6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171825"/>
            <a:ext cx="74199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Оператор проверяет проживание и полномочия УК, связывает чат с домом. Выбор адреса не даёт права доступа.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70DC3D-BBD6-4BC1-90CB-1C433F74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3860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736F1C-1538-482B-BA79-E58ADB88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7672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Ресурсы и риски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201C18-08C7-4FDC-AF6E-F4C87959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276725"/>
            <a:ext cx="74199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Для пилота нужны владелец процесса в УК, сервер, хранилище фото и права бота. Риски: устаревшие данные и недоступность сервисов.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5D3868-26A1-456C-916E-DD9EC3D4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14975"/>
            <a:ext cx="10544175" cy="466725"/>
          </a:xfrm>
          <a:prstGeom xmlns:a="http://schemas.openxmlformats.org/drawingml/2006/main" prst="roundRect">
            <a:avLst>
              <a:gd name="adj" fmla="val 18367"/>
            </a:avLst>
          </a:prstGeom>
          <a:solidFill xmlns:a="http://schemas.openxmlformats.org/drawingml/2006/main">
            <a:srgbClr val="0D0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38A4AA-8597-4075-A0B4-A66BA4DC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0225"/>
            <a:ext cx="10210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Материалы исходной версии: бриф «Умный город», README и код, брендбук MAX, DaData/ГАР, ФРТ, ГИС ЖКХ.</a:t>
            </a:r>
          </a:p>
        </p:txBody>
      </p:sp>
    </p:spTree>
    <p:extLst>
      <p:ext uri="{BB962C8B-B14F-4D97-AF65-F5344CB8AC3E}">
        <p14:creationId xmlns:p14="http://schemas.microsoft.com/office/powerpoint/2010/main" val="17178346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177108-CF98-4DE4-9FCB-741DFA9C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1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AE94D4-2A54-42E2-A717-1D19506C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СЛЕДУЮЩИЙ ЭТАП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A2DE2-7FDD-41CF-A29C-B6F50141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15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Пилот и критерии результата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3116F-631D-4299-A5A3-1A198840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DDA5E-C40C-498F-AA6A-814F2D25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ДОМДЕЛО  ×  MAX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273E8-38B8-41C6-A87F-408DB4F9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3801B-6D6F-4B60-A95D-C28991A8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Метрики первого пилота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A5BC2-364F-4861-A35D-6F204715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1A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28808D-27DE-4A5E-B4C6-D43559CE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4610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Доля объединённых дублей. Ожидаем меньше повторов.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0F76BF-E2FC-4349-8D1C-E39E7331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1A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CFE64-FA0B-496A-A44C-A47E2951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48025"/>
            <a:ext cx="4610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Время до назначения. Ожидаем более быструю передачу.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94967F-D280-46B7-945C-A68785E9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1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2B0AC0-4254-4D9C-8AB2-E480B221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4610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Доля принятых жителями результатов. Пока это гипотезы.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D738EA-5FA6-4B01-8D53-FB11B759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81200"/>
            <a:ext cx="1905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4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80A6A8-8F76-4735-AE3C-3E397B83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9812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Этапы расширения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0E7783-2DDC-4DE0-8242-B43045BF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6574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1A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FE027B-9FF2-4FFF-82E8-EB0076FC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71750"/>
            <a:ext cx="4533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Один дом: проверить процесс с реальными участниками.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936E10-44EB-4182-B298-E15B8F20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352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1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E91C48-1182-4BF9-A8BD-E7D51C11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267075"/>
            <a:ext cx="4533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Несколько домов одной УК: оценить нагрузку и повторяемость процесса.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E8C990-1A9A-416E-98FC-7409D117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48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1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5CDB06-8BC8-410F-A517-03FA0669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962400"/>
            <a:ext cx="4533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Другой город: проверить покрытие адресов и источников.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D19965-6642-4BC1-BF29-599FE232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40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При переносе сохраняются сценарий и модель данных. Адаптируются адреса, правила, УК и права бота.</a:t>
            </a:r>
          </a:p>
        </p:txBody>
      </p:sp>
    </p:spTree>
    <p:extLst>
      <p:ext uri="{BB962C8B-B14F-4D97-AF65-F5344CB8AC3E}">
        <p14:creationId xmlns:p14="http://schemas.microsoft.com/office/powerpoint/2010/main" val="15523292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2026-09-30T08:57:36.6020000Z</dcterms:created>
  <dcterms:modified xsi:type="dcterms:W3CDTF">2026-09-30T08:57:36.6020000Z</dcterms:modified>
</coreProperties>
</file>